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Arimo Bold" panose="020B0604020202020204" charset="0"/>
      <p:regular r:id="rId16"/>
    </p:embeddedFon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Cheddar" panose="020B0604020202020204" charset="0"/>
      <p:regular r:id="rId19"/>
    </p:embeddedFont>
    <p:embeddedFont>
      <p:font typeface="Telegraf" panose="020B0604020202020204" charset="0"/>
      <p:regular r:id="rId20"/>
    </p:embeddedFont>
    <p:embeddedFont>
      <p:font typeface="Telegraf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7.svg"/><Relationship Id="rId7" Type="http://schemas.openxmlformats.org/officeDocument/2006/relationships/image" Target="../media/image31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svg"/><Relationship Id="rId7" Type="http://schemas.openxmlformats.org/officeDocument/2006/relationships/image" Target="../media/image44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9" Type="http://schemas.openxmlformats.org/officeDocument/2006/relationships/image" Target="../media/image4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53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0.svg"/><Relationship Id="rId7" Type="http://schemas.openxmlformats.org/officeDocument/2006/relationships/image" Target="../media/image51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9" Type="http://schemas.openxmlformats.org/officeDocument/2006/relationships/image" Target="../media/image5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7" Type="http://schemas.openxmlformats.org/officeDocument/2006/relationships/image" Target="../media/image61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illiskipsjr/SoulSync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197" y="965197"/>
            <a:ext cx="1013889" cy="1022852"/>
          </a:xfrm>
          <a:custGeom>
            <a:avLst/>
            <a:gdLst/>
            <a:ahLst/>
            <a:cxnLst/>
            <a:rect l="l" t="t" r="r" b="b"/>
            <a:pathLst>
              <a:path w="1013889" h="1022852">
                <a:moveTo>
                  <a:pt x="0" y="0"/>
                </a:moveTo>
                <a:lnTo>
                  <a:pt x="1013888" y="0"/>
                </a:lnTo>
                <a:lnTo>
                  <a:pt x="1013888" y="1022851"/>
                </a:lnTo>
                <a:lnTo>
                  <a:pt x="0" y="102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503" y="5079997"/>
            <a:ext cx="3388204" cy="3875513"/>
          </a:xfrm>
          <a:custGeom>
            <a:avLst/>
            <a:gdLst/>
            <a:ahLst/>
            <a:cxnLst/>
            <a:rect l="l" t="t" r="r" b="b"/>
            <a:pathLst>
              <a:path w="3388204" h="3875513">
                <a:moveTo>
                  <a:pt x="0" y="0"/>
                </a:moveTo>
                <a:lnTo>
                  <a:pt x="3388204" y="0"/>
                </a:lnTo>
                <a:lnTo>
                  <a:pt x="3388204" y="3875513"/>
                </a:lnTo>
                <a:lnTo>
                  <a:pt x="0" y="387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15157" y="5883097"/>
            <a:ext cx="4549750" cy="904999"/>
          </a:xfrm>
          <a:custGeom>
            <a:avLst/>
            <a:gdLst/>
            <a:ahLst/>
            <a:cxnLst/>
            <a:rect l="l" t="t" r="r" b="b"/>
            <a:pathLst>
              <a:path w="4549750" h="904999">
                <a:moveTo>
                  <a:pt x="0" y="0"/>
                </a:moveTo>
                <a:lnTo>
                  <a:pt x="4549749" y="0"/>
                </a:lnTo>
                <a:lnTo>
                  <a:pt x="4549749" y="904999"/>
                </a:lnTo>
                <a:lnTo>
                  <a:pt x="0" y="904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551663" y="2291477"/>
            <a:ext cx="1387011" cy="1780946"/>
          </a:xfrm>
          <a:custGeom>
            <a:avLst/>
            <a:gdLst/>
            <a:ahLst/>
            <a:cxnLst/>
            <a:rect l="l" t="t" r="r" b="b"/>
            <a:pathLst>
              <a:path w="1387011" h="1780946">
                <a:moveTo>
                  <a:pt x="0" y="0"/>
                </a:moveTo>
                <a:lnTo>
                  <a:pt x="1387011" y="0"/>
                </a:lnTo>
                <a:lnTo>
                  <a:pt x="1387011" y="1780946"/>
                </a:lnTo>
                <a:lnTo>
                  <a:pt x="0" y="1780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196763" y="7064121"/>
            <a:ext cx="9889588" cy="2588685"/>
          </a:xfrm>
          <a:custGeom>
            <a:avLst/>
            <a:gdLst/>
            <a:ahLst/>
            <a:cxnLst/>
            <a:rect l="l" t="t" r="r" b="b"/>
            <a:pathLst>
              <a:path w="9889588" h="2588685">
                <a:moveTo>
                  <a:pt x="0" y="0"/>
                </a:moveTo>
                <a:lnTo>
                  <a:pt x="9889588" y="0"/>
                </a:lnTo>
                <a:lnTo>
                  <a:pt x="9889588" y="2588685"/>
                </a:lnTo>
                <a:lnTo>
                  <a:pt x="0" y="25886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735583" y="3118456"/>
            <a:ext cx="3623196" cy="1910058"/>
          </a:xfrm>
          <a:custGeom>
            <a:avLst/>
            <a:gdLst/>
            <a:ahLst/>
            <a:cxnLst/>
            <a:rect l="l" t="t" r="r" b="b"/>
            <a:pathLst>
              <a:path w="3623196" h="1910058">
                <a:moveTo>
                  <a:pt x="0" y="0"/>
                </a:moveTo>
                <a:lnTo>
                  <a:pt x="3623196" y="0"/>
                </a:lnTo>
                <a:lnTo>
                  <a:pt x="3623196" y="1910058"/>
                </a:lnTo>
                <a:lnTo>
                  <a:pt x="0" y="19100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483678" y="5079997"/>
            <a:ext cx="2867816" cy="3875513"/>
          </a:xfrm>
          <a:custGeom>
            <a:avLst/>
            <a:gdLst/>
            <a:ahLst/>
            <a:cxnLst/>
            <a:rect l="l" t="t" r="r" b="b"/>
            <a:pathLst>
              <a:path w="2867816" h="3875513">
                <a:moveTo>
                  <a:pt x="0" y="0"/>
                </a:moveTo>
                <a:lnTo>
                  <a:pt x="2867816" y="0"/>
                </a:lnTo>
                <a:lnTo>
                  <a:pt x="2867816" y="3875513"/>
                </a:lnTo>
                <a:lnTo>
                  <a:pt x="0" y="38755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394568" y="6073283"/>
            <a:ext cx="3051820" cy="52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PRESENTED BY: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10124" y="7835332"/>
            <a:ext cx="8228981" cy="105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3"/>
              </a:lnSpc>
            </a:pPr>
            <a:r>
              <a:rPr lang="en-US" sz="29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OUR TEAM: OWAIS , WILLIS , VAASVI, NITUL, AYMAN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49272" y="117015"/>
            <a:ext cx="14676958" cy="244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4"/>
              </a:lnSpc>
            </a:pPr>
            <a:r>
              <a:rPr lang="en-US" sz="978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ARTIFICIAL INTELLIGENCE-PROJECT “SOULSYNC”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30369" y="3960609"/>
            <a:ext cx="6338754" cy="104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8"/>
              </a:lnSpc>
            </a:pPr>
            <a:r>
              <a:rPr lang="en-US" sz="5999" b="1">
                <a:solidFill>
                  <a:srgbClr val="211C2D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70003" y="495300"/>
            <a:ext cx="4317997" cy="5219700"/>
          </a:xfrm>
          <a:custGeom>
            <a:avLst/>
            <a:gdLst/>
            <a:ahLst/>
            <a:cxnLst/>
            <a:rect l="l" t="t" r="r" b="b"/>
            <a:pathLst>
              <a:path w="4317997" h="5219700">
                <a:moveTo>
                  <a:pt x="0" y="0"/>
                </a:moveTo>
                <a:lnTo>
                  <a:pt x="4317997" y="0"/>
                </a:lnTo>
                <a:lnTo>
                  <a:pt x="4317997" y="5219700"/>
                </a:lnTo>
                <a:lnTo>
                  <a:pt x="0" y="5219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34377" y="5060947"/>
            <a:ext cx="6619237" cy="165097"/>
          </a:xfrm>
          <a:custGeom>
            <a:avLst/>
            <a:gdLst/>
            <a:ahLst/>
            <a:cxnLst/>
            <a:rect l="l" t="t" r="r" b="b"/>
            <a:pathLst>
              <a:path w="6619237" h="165097">
                <a:moveTo>
                  <a:pt x="0" y="0"/>
                </a:moveTo>
                <a:lnTo>
                  <a:pt x="6619237" y="0"/>
                </a:lnTo>
                <a:lnTo>
                  <a:pt x="6619237" y="165097"/>
                </a:lnTo>
                <a:lnTo>
                  <a:pt x="0" y="165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3503" y="324669"/>
            <a:ext cx="18414997" cy="5676614"/>
          </a:xfrm>
          <a:custGeom>
            <a:avLst/>
            <a:gdLst/>
            <a:ahLst/>
            <a:cxnLst/>
            <a:rect l="l" t="t" r="r" b="b"/>
            <a:pathLst>
              <a:path w="18414997" h="5676614">
                <a:moveTo>
                  <a:pt x="0" y="0"/>
                </a:moveTo>
                <a:lnTo>
                  <a:pt x="18414997" y="0"/>
                </a:lnTo>
                <a:lnTo>
                  <a:pt x="18414997" y="5676614"/>
                </a:lnTo>
                <a:lnTo>
                  <a:pt x="0" y="56766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47557" y="8346557"/>
            <a:ext cx="975246" cy="975246"/>
          </a:xfrm>
          <a:custGeom>
            <a:avLst/>
            <a:gdLst/>
            <a:ahLst/>
            <a:cxnLst/>
            <a:rect l="l" t="t" r="r" b="b"/>
            <a:pathLst>
              <a:path w="975246" h="975246">
                <a:moveTo>
                  <a:pt x="0" y="0"/>
                </a:moveTo>
                <a:lnTo>
                  <a:pt x="975246" y="0"/>
                </a:lnTo>
                <a:lnTo>
                  <a:pt x="975246" y="975246"/>
                </a:lnTo>
                <a:lnTo>
                  <a:pt x="0" y="9752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5645" y="435559"/>
            <a:ext cx="7408936" cy="1298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249286"/>
            <a:ext cx="13069672" cy="2960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7"/>
              </a:lnSpc>
            </a:pPr>
            <a:r>
              <a:rPr lang="en-US" sz="3888" b="1" spc="190">
                <a:solidFill>
                  <a:srgbClr val="292828"/>
                </a:solidFill>
                <a:latin typeface="Telegraf Bold"/>
                <a:ea typeface="Telegraf Bold"/>
                <a:cs typeface="Telegraf Bold"/>
                <a:sym typeface="Telegraf Bold"/>
              </a:rPr>
              <a:t>Building a technically robust mental-health companion requires integrating emotion detection, empathetic response generation, and crisis safety—capabilities missing in today’s generic chatbots.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160" y="2765679"/>
            <a:ext cx="13858751" cy="139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4552" b="1" spc="22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SoulSync: AI-Powered Personalized Mental Health Companion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63523" y="3234195"/>
            <a:ext cx="123825" cy="123825"/>
            <a:chOff x="0" y="0"/>
            <a:chExt cx="123825" cy="1238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63523" y="3805695"/>
            <a:ext cx="123825" cy="123825"/>
            <a:chOff x="0" y="0"/>
            <a:chExt cx="123825" cy="1238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63523" y="5520195"/>
            <a:ext cx="123825" cy="123825"/>
            <a:chOff x="0" y="0"/>
            <a:chExt cx="123825" cy="1238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63523" y="6663195"/>
            <a:ext cx="123825" cy="123825"/>
            <a:chOff x="0" y="0"/>
            <a:chExt cx="123825" cy="1238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5658376" y="6582766"/>
            <a:ext cx="3106941" cy="4038495"/>
          </a:xfrm>
          <a:custGeom>
            <a:avLst/>
            <a:gdLst/>
            <a:ahLst/>
            <a:cxnLst/>
            <a:rect l="l" t="t" r="r" b="b"/>
            <a:pathLst>
              <a:path w="3106941" h="4038495">
                <a:moveTo>
                  <a:pt x="0" y="0"/>
                </a:moveTo>
                <a:lnTo>
                  <a:pt x="3106941" y="0"/>
                </a:lnTo>
                <a:lnTo>
                  <a:pt x="3106941" y="4038495"/>
                </a:lnTo>
                <a:lnTo>
                  <a:pt x="0" y="4038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756854" y="77667"/>
            <a:ext cx="3594649" cy="4029323"/>
          </a:xfrm>
          <a:custGeom>
            <a:avLst/>
            <a:gdLst/>
            <a:ahLst/>
            <a:cxnLst/>
            <a:rect l="l" t="t" r="r" b="b"/>
            <a:pathLst>
              <a:path w="3594649" h="4029323">
                <a:moveTo>
                  <a:pt x="0" y="0"/>
                </a:moveTo>
                <a:lnTo>
                  <a:pt x="3594649" y="0"/>
                </a:lnTo>
                <a:lnTo>
                  <a:pt x="3594649" y="4029323"/>
                </a:lnTo>
                <a:lnTo>
                  <a:pt x="0" y="402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49326" y="236572"/>
            <a:ext cx="11041323" cy="1298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THE MENTAL HEALTH CHALLENGE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9173" y="2457050"/>
            <a:ext cx="13092922" cy="598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807" b="1" spc="186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global mental health gap is real and growing.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1143" y="2994222"/>
            <a:ext cx="12991328" cy="1741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807" spc="186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Over 1B people experience mental health struggles. Access to therapists is limited, especially in underserved regions.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143" y="5280222"/>
            <a:ext cx="12879886" cy="231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807" spc="186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Current digital mental health tools feel generic and robotic. Emotional support is needed outside clinical environments.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9173" y="7600559"/>
            <a:ext cx="13481723" cy="170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807" b="1" spc="186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Why this matters: </a:t>
            </a:r>
            <a:r>
              <a:rPr lang="en-US" sz="3807" spc="186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There is a rising demand for accessible, personalized emotional support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14429" y="1249851"/>
            <a:ext cx="3116313" cy="3052248"/>
          </a:xfrm>
          <a:custGeom>
            <a:avLst/>
            <a:gdLst/>
            <a:ahLst/>
            <a:cxnLst/>
            <a:rect l="l" t="t" r="r" b="b"/>
            <a:pathLst>
              <a:path w="3116313" h="3052248">
                <a:moveTo>
                  <a:pt x="0" y="0"/>
                </a:moveTo>
                <a:lnTo>
                  <a:pt x="3116314" y="0"/>
                </a:lnTo>
                <a:lnTo>
                  <a:pt x="3116314" y="3052249"/>
                </a:lnTo>
                <a:lnTo>
                  <a:pt x="0" y="3052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546623" y="2566835"/>
            <a:ext cx="133350" cy="133350"/>
            <a:chOff x="0" y="0"/>
            <a:chExt cx="133350" cy="1333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2546623" y="5252885"/>
            <a:ext cx="133350" cy="133350"/>
            <a:chOff x="0" y="0"/>
            <a:chExt cx="133350" cy="1333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2546623" y="6595910"/>
            <a:ext cx="133350" cy="133350"/>
            <a:chOff x="0" y="0"/>
            <a:chExt cx="133350" cy="1333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2546623" y="7938935"/>
            <a:ext cx="133350" cy="133350"/>
            <a:chOff x="0" y="0"/>
            <a:chExt cx="133350" cy="133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4415018" y="9339367"/>
            <a:ext cx="1224143" cy="856602"/>
          </a:xfrm>
          <a:custGeom>
            <a:avLst/>
            <a:gdLst/>
            <a:ahLst/>
            <a:cxnLst/>
            <a:rect l="l" t="t" r="r" b="b"/>
            <a:pathLst>
              <a:path w="1224143" h="856602">
                <a:moveTo>
                  <a:pt x="0" y="0"/>
                </a:moveTo>
                <a:lnTo>
                  <a:pt x="1224144" y="0"/>
                </a:lnTo>
                <a:lnTo>
                  <a:pt x="1224144" y="856603"/>
                </a:lnTo>
                <a:lnTo>
                  <a:pt x="0" y="856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876024" y="8093974"/>
            <a:ext cx="1475480" cy="2256530"/>
          </a:xfrm>
          <a:custGeom>
            <a:avLst/>
            <a:gdLst/>
            <a:ahLst/>
            <a:cxnLst/>
            <a:rect l="l" t="t" r="r" b="b"/>
            <a:pathLst>
              <a:path w="1475480" h="2256530">
                <a:moveTo>
                  <a:pt x="0" y="0"/>
                </a:moveTo>
                <a:lnTo>
                  <a:pt x="1475479" y="0"/>
                </a:lnTo>
                <a:lnTo>
                  <a:pt x="1475479" y="2256529"/>
                </a:lnTo>
                <a:lnTo>
                  <a:pt x="0" y="2256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372712" y="3620110"/>
            <a:ext cx="3353914" cy="3538242"/>
          </a:xfrm>
          <a:custGeom>
            <a:avLst/>
            <a:gdLst/>
            <a:ahLst/>
            <a:cxnLst/>
            <a:rect l="l" t="t" r="r" b="b"/>
            <a:pathLst>
              <a:path w="3353914" h="3538242">
                <a:moveTo>
                  <a:pt x="0" y="0"/>
                </a:moveTo>
                <a:lnTo>
                  <a:pt x="3353914" y="0"/>
                </a:lnTo>
                <a:lnTo>
                  <a:pt x="3353914" y="3538242"/>
                </a:lnTo>
                <a:lnTo>
                  <a:pt x="0" y="3538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18375" y="614896"/>
            <a:ext cx="17138856" cy="114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9"/>
              </a:lnSpc>
            </a:pPr>
            <a:r>
              <a:rPr lang="en-US" sz="6199" spc="303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OUR SOLUTION : AGENTIC AI MENTAL HEALTH COMPANION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80598" y="2430637"/>
            <a:ext cx="14508128" cy="138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3576" spc="175">
                <a:solidFill>
                  <a:srgbClr val="290606"/>
                </a:solidFill>
                <a:latin typeface="Arimo"/>
                <a:ea typeface="Arimo"/>
                <a:cs typeface="Arimo"/>
                <a:sym typeface="Arimo"/>
              </a:rPr>
              <a:t>SOUL SYNC IS AN AI MENTAL-HEALTH COMPANION FINE- TUNED ON EMOTIONAL SUPPORT DIALOGUES TO PROVIDE EMPATHETIC AND SAFE CONVERSATIONS.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08473" y="4254608"/>
            <a:ext cx="4413590" cy="488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3576" b="1" spc="175">
                <a:solidFill>
                  <a:srgbClr val="290606"/>
                </a:solidFill>
                <a:latin typeface="Arimo Bold"/>
                <a:ea typeface="Arimo Bold"/>
                <a:cs typeface="Arimo Bold"/>
                <a:sym typeface="Arimo Bold"/>
              </a:rPr>
              <a:t>CORE FEATURES: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80598" y="5116687"/>
            <a:ext cx="14562372" cy="362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3576" spc="175">
                <a:solidFill>
                  <a:srgbClr val="290606"/>
                </a:solidFill>
                <a:latin typeface="Arimo"/>
                <a:ea typeface="Arimo"/>
                <a:cs typeface="Arimo"/>
                <a:sym typeface="Arimo"/>
              </a:rPr>
              <a:t>FINE-TUNED ON MENTAL-HEALTH ORIENTED CONVERSATION DATASETS DESIGNED TO PROVIDE SUPPORTIVE, HUMAN-LIKE EMOTIONAL RESPONSES INTEGRATED TELEGRAM EMERGENCY ALERT SYSTEM FOR REAL-WORLD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2623" y="994705"/>
            <a:ext cx="18088870" cy="8761781"/>
          </a:xfrm>
          <a:custGeom>
            <a:avLst/>
            <a:gdLst/>
            <a:ahLst/>
            <a:cxnLst/>
            <a:rect l="l" t="t" r="r" b="b"/>
            <a:pathLst>
              <a:path w="18088870" h="8761781">
                <a:moveTo>
                  <a:pt x="0" y="0"/>
                </a:moveTo>
                <a:lnTo>
                  <a:pt x="18088871" y="0"/>
                </a:lnTo>
                <a:lnTo>
                  <a:pt x="18088871" y="8761781"/>
                </a:lnTo>
                <a:lnTo>
                  <a:pt x="0" y="8761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89031" y="581958"/>
            <a:ext cx="9710833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4"/>
              </a:lnSpc>
            </a:pPr>
            <a:r>
              <a:rPr lang="en-US" sz="6000" spc="294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WHAT MAKES SOULSYNC UNIQUE?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73192" y="1649920"/>
            <a:ext cx="99479" cy="839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8"/>
              </a:lnSpc>
            </a:pPr>
            <a:r>
              <a:rPr lang="en-US" sz="3035" b="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3991" y="2060705"/>
            <a:ext cx="9569948" cy="42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3035" spc="106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035" b="1" spc="106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Secure Onboarding WithEmergencyContact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441705"/>
            <a:ext cx="13909396" cy="78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3035" spc="124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Users sign up through the Electron.js desktop app and provide the Telegram chat ID of their closest kin, stored safely for emergency use.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83991" y="3612071"/>
            <a:ext cx="8363474" cy="40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3035" b="1" spc="133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 Personalised Responses &amp; Suggestions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965705"/>
            <a:ext cx="13097485" cy="11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3035" spc="121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Tailored guidance based on the user’s emotional state and conversation patterns.Context-aware suggestions that help users reflect, cope, or improve their wellbeing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3991" y="5517070"/>
            <a:ext cx="6709934" cy="40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3035" b="1" spc="12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Empathy-Tuned Dialogue Model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870705"/>
            <a:ext cx="13739203" cy="78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3035" spc="124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SoulSync’s LLM is fine-tuned on supportive conversations, delivering warm, safe, and context-aware responses.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3991" y="7013705"/>
            <a:ext cx="5990882" cy="42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3035" spc="12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035" b="1" spc="12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Smooth End-to-End 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394705"/>
            <a:ext cx="12396892" cy="78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3035" spc="124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User → Electron App → API → HuggingFace Model → Response  Designed for low-latency, real-time emotional support.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3991" y="8537705"/>
            <a:ext cx="7347337" cy="42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3035" spc="118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035" b="1" spc="118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Crisis Detection &amp; Telegram Alerts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918705"/>
            <a:ext cx="13562667" cy="78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3035" spc="121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If triggering or suicidal content is detected, SoulSync automatically alerts the registered closest kin via the SoulSync Telegram bot.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40781" y="4596346"/>
            <a:ext cx="95250" cy="95250"/>
            <a:chOff x="0" y="0"/>
            <a:chExt cx="95250" cy="95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40781" y="5072596"/>
            <a:ext cx="95250" cy="95250"/>
            <a:chOff x="0" y="0"/>
            <a:chExt cx="95250" cy="95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40781" y="6025096"/>
            <a:ext cx="95250" cy="95250"/>
            <a:chOff x="0" y="0"/>
            <a:chExt cx="95250" cy="95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40781" y="6501346"/>
            <a:ext cx="95250" cy="95250"/>
            <a:chOff x="0" y="0"/>
            <a:chExt cx="95250" cy="95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40781" y="7453846"/>
            <a:ext cx="95250" cy="95250"/>
            <a:chOff x="0" y="0"/>
            <a:chExt cx="95250" cy="95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377" cy="95250"/>
            </a:xfrm>
            <a:custGeom>
              <a:avLst/>
              <a:gdLst/>
              <a:ahLst/>
              <a:cxnLst/>
              <a:rect l="l" t="t" r="r" b="b"/>
              <a:pathLst>
                <a:path w="95377" h="95250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786"/>
                  </a:cubicBezTo>
                  <a:cubicBezTo>
                    <a:pt x="89154" y="71501"/>
                    <a:pt x="85725" y="76708"/>
                    <a:pt x="81280" y="81280"/>
                  </a:cubicBezTo>
                  <a:cubicBezTo>
                    <a:pt x="76835" y="85852"/>
                    <a:pt x="71628" y="89154"/>
                    <a:pt x="65786" y="91567"/>
                  </a:cubicBezTo>
                  <a:cubicBezTo>
                    <a:pt x="59944" y="93980"/>
                    <a:pt x="53848" y="95250"/>
                    <a:pt x="47498" y="95250"/>
                  </a:cubicBezTo>
                  <a:cubicBezTo>
                    <a:pt x="41148" y="95250"/>
                    <a:pt x="35052" y="93980"/>
                    <a:pt x="29210" y="91567"/>
                  </a:cubicBezTo>
                  <a:cubicBezTo>
                    <a:pt x="23368" y="89154"/>
                    <a:pt x="18288" y="85725"/>
                    <a:pt x="13716" y="81280"/>
                  </a:cubicBezTo>
                  <a:cubicBezTo>
                    <a:pt x="9144" y="76835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-888578" y="-104270"/>
            <a:ext cx="3144888" cy="2659094"/>
          </a:xfrm>
          <a:custGeom>
            <a:avLst/>
            <a:gdLst/>
            <a:ahLst/>
            <a:cxnLst/>
            <a:rect l="l" t="t" r="r" b="b"/>
            <a:pathLst>
              <a:path w="3144888" h="2659094">
                <a:moveTo>
                  <a:pt x="0" y="0"/>
                </a:moveTo>
                <a:lnTo>
                  <a:pt x="3144889" y="0"/>
                </a:lnTo>
                <a:lnTo>
                  <a:pt x="3144889" y="2659094"/>
                </a:lnTo>
                <a:lnTo>
                  <a:pt x="0" y="2659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415018" y="9339367"/>
            <a:ext cx="1224143" cy="856602"/>
          </a:xfrm>
          <a:custGeom>
            <a:avLst/>
            <a:gdLst/>
            <a:ahLst/>
            <a:cxnLst/>
            <a:rect l="l" t="t" r="r" b="b"/>
            <a:pathLst>
              <a:path w="1224143" h="856602">
                <a:moveTo>
                  <a:pt x="0" y="0"/>
                </a:moveTo>
                <a:lnTo>
                  <a:pt x="1224144" y="0"/>
                </a:lnTo>
                <a:lnTo>
                  <a:pt x="1224144" y="856603"/>
                </a:lnTo>
                <a:lnTo>
                  <a:pt x="0" y="856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876024" y="8093974"/>
            <a:ext cx="1475480" cy="2256530"/>
          </a:xfrm>
          <a:custGeom>
            <a:avLst/>
            <a:gdLst/>
            <a:ahLst/>
            <a:cxnLst/>
            <a:rect l="l" t="t" r="r" b="b"/>
            <a:pathLst>
              <a:path w="1475480" h="2256530">
                <a:moveTo>
                  <a:pt x="0" y="0"/>
                </a:moveTo>
                <a:lnTo>
                  <a:pt x="1475479" y="0"/>
                </a:lnTo>
                <a:lnTo>
                  <a:pt x="1475479" y="2256529"/>
                </a:lnTo>
                <a:lnTo>
                  <a:pt x="0" y="2256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372712" y="3620110"/>
            <a:ext cx="3353914" cy="3538242"/>
          </a:xfrm>
          <a:custGeom>
            <a:avLst/>
            <a:gdLst/>
            <a:ahLst/>
            <a:cxnLst/>
            <a:rect l="l" t="t" r="r" b="b"/>
            <a:pathLst>
              <a:path w="3353914" h="3538242">
                <a:moveTo>
                  <a:pt x="0" y="0"/>
                </a:moveTo>
                <a:lnTo>
                  <a:pt x="3353914" y="0"/>
                </a:lnTo>
                <a:lnTo>
                  <a:pt x="3353914" y="3538242"/>
                </a:lnTo>
                <a:lnTo>
                  <a:pt x="0" y="3538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852539" y="799519"/>
            <a:ext cx="11899706" cy="114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9"/>
              </a:lnSpc>
            </a:pPr>
            <a:r>
              <a:rPr lang="en-US" sz="6199" spc="303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DATASET OVERVIEW &amp; MODEL TRAINING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2156" y="2522477"/>
            <a:ext cx="17308497" cy="18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80" b="1" spc="155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Training Pipeline </a:t>
            </a:r>
            <a:r>
              <a:rPr lang="en-US" sz="3180" spc="155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SoulSync uses a 3-model pipeline to detect emotion, generate supportive replies, and personalize them. 1. BERT — Emotion Classifier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8852" y="4398797"/>
            <a:ext cx="9800834" cy="965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80" spc="155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Dataset: 50k+ sentiment samples (7 emotions) Purpose: Understand user mood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2156" y="5351297"/>
            <a:ext cx="6513024" cy="48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80" spc="155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2. Phi-2 — Response Generator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8852" y="5827547"/>
            <a:ext cx="11208258" cy="965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80" spc="155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Dataset: 50k+ mental-health conversations Purpose: Produce empathetic, therapeutic responses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2156" y="6780047"/>
            <a:ext cx="7287597" cy="48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80" spc="155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3. Qwen-3 — Personalization Layer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8852" y="7256297"/>
            <a:ext cx="8927821" cy="48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80" spc="155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Purpose: Refine and personalize final reply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2156" y="7732547"/>
            <a:ext cx="11661096" cy="144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80" spc="155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180" b="1" spc="155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Outcome: </a:t>
            </a:r>
            <a:r>
              <a:rPr lang="en-US" sz="3180" spc="155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Emotion → Response → Personalization  Creates warm, safe, and context-aware conversations.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8346557"/>
            <a:ext cx="2177806" cy="2003946"/>
          </a:xfrm>
          <a:custGeom>
            <a:avLst/>
            <a:gdLst/>
            <a:ahLst/>
            <a:cxnLst/>
            <a:rect l="l" t="t" r="r" b="b"/>
            <a:pathLst>
              <a:path w="2177806" h="2003946">
                <a:moveTo>
                  <a:pt x="0" y="0"/>
                </a:moveTo>
                <a:lnTo>
                  <a:pt x="2177805" y="0"/>
                </a:lnTo>
                <a:lnTo>
                  <a:pt x="2177805" y="2003946"/>
                </a:lnTo>
                <a:lnTo>
                  <a:pt x="0" y="2003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3545" y="2441667"/>
            <a:ext cx="16623830" cy="4152052"/>
          </a:xfrm>
          <a:custGeom>
            <a:avLst/>
            <a:gdLst/>
            <a:ahLst/>
            <a:cxnLst/>
            <a:rect l="l" t="t" r="r" b="b"/>
            <a:pathLst>
              <a:path w="16623830" h="4152052">
                <a:moveTo>
                  <a:pt x="0" y="0"/>
                </a:moveTo>
                <a:lnTo>
                  <a:pt x="16623830" y="0"/>
                </a:lnTo>
                <a:lnTo>
                  <a:pt x="16623830" y="4152052"/>
                </a:lnTo>
                <a:lnTo>
                  <a:pt x="0" y="4152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6607" y="8346557"/>
            <a:ext cx="975246" cy="975246"/>
          </a:xfrm>
          <a:custGeom>
            <a:avLst/>
            <a:gdLst/>
            <a:ahLst/>
            <a:cxnLst/>
            <a:rect l="l" t="t" r="r" b="b"/>
            <a:pathLst>
              <a:path w="975246" h="975246">
                <a:moveTo>
                  <a:pt x="0" y="0"/>
                </a:moveTo>
                <a:lnTo>
                  <a:pt x="975246" y="0"/>
                </a:lnTo>
                <a:lnTo>
                  <a:pt x="975246" y="975246"/>
                </a:lnTo>
                <a:lnTo>
                  <a:pt x="0" y="975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144560" y="-66551"/>
            <a:ext cx="3209982" cy="2125780"/>
          </a:xfrm>
          <a:custGeom>
            <a:avLst/>
            <a:gdLst/>
            <a:ahLst/>
            <a:cxnLst/>
            <a:rect l="l" t="t" r="r" b="b"/>
            <a:pathLst>
              <a:path w="3209982" h="2125780">
                <a:moveTo>
                  <a:pt x="0" y="0"/>
                </a:moveTo>
                <a:lnTo>
                  <a:pt x="3209982" y="0"/>
                </a:lnTo>
                <a:lnTo>
                  <a:pt x="3209982" y="2125780"/>
                </a:lnTo>
                <a:lnTo>
                  <a:pt x="0" y="2125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7925" y="2919432"/>
            <a:ext cx="1882854" cy="36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Name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45432" y="2889485"/>
            <a:ext cx="746274" cy="41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2949" y="2889485"/>
            <a:ext cx="1290037" cy="41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Samples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37983" y="2889485"/>
            <a:ext cx="1064914" cy="41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7925" y="4017921"/>
            <a:ext cx="2370315" cy="89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Conversational Dataset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7925" y="5627646"/>
            <a:ext cx="2919574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Sentiment Dataset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45432" y="5627646"/>
            <a:ext cx="670055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45432" y="4256046"/>
            <a:ext cx="4718914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Prompt-Completion 50,000+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2949" y="5627646"/>
            <a:ext cx="1355446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50,000+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40466" y="2885885"/>
            <a:ext cx="2501865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Labels / Classes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37983" y="3808371"/>
            <a:ext cx="2876417" cy="1327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Fine-tuned mental health conversations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40466" y="4256046"/>
            <a:ext cx="588797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N/A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40466" y="5141871"/>
            <a:ext cx="5394493" cy="67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Anxiety , Depression   Open-source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40466" y="6056271"/>
            <a:ext cx="583730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etc.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037983" y="6056271"/>
            <a:ext cx="2745505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sentiment corpus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4340" y="408175"/>
            <a:ext cx="11912746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294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DATASET OVERVIEW FOR SENTIMENT AND CONVERSATIONAL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6551"/>
            <a:ext cx="18418045" cy="10417045"/>
          </a:xfrm>
          <a:custGeom>
            <a:avLst/>
            <a:gdLst/>
            <a:ahLst/>
            <a:cxnLst/>
            <a:rect l="l" t="t" r="r" b="b"/>
            <a:pathLst>
              <a:path w="18418045" h="10417045">
                <a:moveTo>
                  <a:pt x="0" y="0"/>
                </a:moveTo>
                <a:lnTo>
                  <a:pt x="18418045" y="0"/>
                </a:lnTo>
                <a:lnTo>
                  <a:pt x="18418045" y="10417045"/>
                </a:lnTo>
                <a:lnTo>
                  <a:pt x="0" y="10417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9020" y="2614279"/>
            <a:ext cx="2819410" cy="3287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Technique</a:t>
            </a:r>
          </a:p>
          <a:p>
            <a:pPr algn="l">
              <a:lnSpc>
                <a:spcPts val="3825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Supervised Fine- Tuning (SFT)</a:t>
            </a:r>
          </a:p>
          <a:p>
            <a:pPr algn="l">
              <a:lnSpc>
                <a:spcPts val="675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Instruction Fine-</a:t>
            </a:r>
          </a:p>
          <a:p>
            <a:pPr algn="l">
              <a:lnSpc>
                <a:spcPts val="135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44110" y="2614279"/>
            <a:ext cx="1359865" cy="602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52632" y="2614279"/>
            <a:ext cx="3876885" cy="625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Description</a:t>
            </a:r>
          </a:p>
          <a:p>
            <a:pPr algn="l">
              <a:lnSpc>
                <a:spcPts val="4759"/>
              </a:lnSpc>
            </a:pPr>
            <a:endParaRPr lang="en-US" sz="33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825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Trained on emotion- labeled dataset</a:t>
            </a:r>
          </a:p>
          <a:p>
            <a:pPr algn="l">
              <a:lnSpc>
                <a:spcPts val="675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dialogue-based</a:t>
            </a:r>
          </a:p>
          <a:p>
            <a:pPr algn="l">
              <a:lnSpc>
                <a:spcPts val="135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empathetic prompts</a:t>
            </a:r>
          </a:p>
          <a:p>
            <a:pPr algn="l">
              <a:lnSpc>
                <a:spcPts val="675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Trains low-rank</a:t>
            </a:r>
          </a:p>
          <a:p>
            <a:pPr algn="l">
              <a:lnSpc>
                <a:spcPts val="240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matrices instead of full model</a:t>
            </a:r>
          </a:p>
          <a:p>
            <a:pPr algn="l">
              <a:lnSpc>
                <a:spcPts val="2400"/>
              </a:lnSpc>
            </a:pPr>
            <a:endParaRPr lang="en-US" sz="27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400"/>
              </a:lnSpc>
            </a:pPr>
            <a:endParaRPr lang="en-US" sz="27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400"/>
              </a:lnSpc>
            </a:pPr>
            <a:endParaRPr lang="en-US" sz="27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135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Runs 4-bit quantized</a:t>
            </a:r>
          </a:p>
          <a:p>
            <a:pPr algn="l">
              <a:lnSpc>
                <a:spcPts val="1350"/>
              </a:lnSpc>
            </a:pPr>
            <a:endParaRPr lang="en-US" sz="27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135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model on Ollama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34280" y="2614279"/>
            <a:ext cx="3829240" cy="3287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</a:t>
            </a:r>
          </a:p>
          <a:p>
            <a:pPr algn="l">
              <a:lnSpc>
                <a:spcPts val="4759"/>
              </a:lnSpc>
            </a:pPr>
            <a:endParaRPr lang="en-US" sz="33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825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Improved emotional recognition accuracy</a:t>
            </a:r>
          </a:p>
          <a:p>
            <a:pPr algn="l">
              <a:lnSpc>
                <a:spcPts val="675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emotionally</a:t>
            </a:r>
          </a:p>
          <a:p>
            <a:pPr algn="l">
              <a:lnSpc>
                <a:spcPts val="135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aligned responses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9020" y="8193948"/>
            <a:ext cx="3427390" cy="48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Quantized Inference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9020" y="6079398"/>
            <a:ext cx="3328683" cy="125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Parameter-Efficient</a:t>
            </a:r>
          </a:p>
          <a:p>
            <a:pPr algn="l">
              <a:lnSpc>
                <a:spcPts val="135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Tuning (LoRA)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44110" y="5186763"/>
            <a:ext cx="862441" cy="48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Phi-2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44110" y="3932168"/>
            <a:ext cx="886349" cy="48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44110" y="8193948"/>
            <a:ext cx="1773384" cy="48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Qwen 1.3B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44110" y="6603273"/>
            <a:ext cx="2055343" cy="48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BERT / Phi-2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34280" y="6593748"/>
            <a:ext cx="3651628" cy="239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memory and</a:t>
            </a:r>
          </a:p>
          <a:p>
            <a:pPr algn="l">
              <a:lnSpc>
                <a:spcPts val="1350"/>
              </a:lnSpc>
            </a:pPr>
            <a:endParaRPr lang="en-US" sz="27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1350"/>
              </a:lnSpc>
            </a:pPr>
            <a:endParaRPr lang="en-US" sz="27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1350"/>
              </a:lnSpc>
            </a:pPr>
            <a:endParaRPr lang="en-US" sz="27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135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training time</a:t>
            </a:r>
          </a:p>
          <a:p>
            <a:pPr algn="l">
              <a:lnSpc>
                <a:spcPts val="675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Enables fast local</a:t>
            </a:r>
          </a:p>
          <a:p>
            <a:pPr algn="l">
              <a:lnSpc>
                <a:spcPts val="240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inference on limited GPU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4340" y="408175"/>
            <a:ext cx="12942589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spc="294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SUMMARY OF FINE-TUNING TECHNIQUES AND MEMORY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8671512"/>
            <a:ext cx="2692165" cy="1678991"/>
          </a:xfrm>
          <a:custGeom>
            <a:avLst/>
            <a:gdLst/>
            <a:ahLst/>
            <a:cxnLst/>
            <a:rect l="l" t="t" r="r" b="b"/>
            <a:pathLst>
              <a:path w="2692165" h="1678991">
                <a:moveTo>
                  <a:pt x="0" y="0"/>
                </a:moveTo>
                <a:lnTo>
                  <a:pt x="2692165" y="0"/>
                </a:lnTo>
                <a:lnTo>
                  <a:pt x="2692165" y="1678991"/>
                </a:lnTo>
                <a:lnTo>
                  <a:pt x="0" y="1678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76257" y="9375257"/>
            <a:ext cx="975246" cy="975246"/>
          </a:xfrm>
          <a:custGeom>
            <a:avLst/>
            <a:gdLst/>
            <a:ahLst/>
            <a:cxnLst/>
            <a:rect l="l" t="t" r="r" b="b"/>
            <a:pathLst>
              <a:path w="975246" h="975246">
                <a:moveTo>
                  <a:pt x="0" y="0"/>
                </a:moveTo>
                <a:lnTo>
                  <a:pt x="975246" y="0"/>
                </a:lnTo>
                <a:lnTo>
                  <a:pt x="975246" y="975246"/>
                </a:lnTo>
                <a:lnTo>
                  <a:pt x="0" y="975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48264" y="-66551"/>
            <a:ext cx="17006287" cy="7017868"/>
          </a:xfrm>
          <a:custGeom>
            <a:avLst/>
            <a:gdLst/>
            <a:ahLst/>
            <a:cxnLst/>
            <a:rect l="l" t="t" r="r" b="b"/>
            <a:pathLst>
              <a:path w="17006287" h="7017868">
                <a:moveTo>
                  <a:pt x="0" y="0"/>
                </a:moveTo>
                <a:lnTo>
                  <a:pt x="17006287" y="0"/>
                </a:lnTo>
                <a:lnTo>
                  <a:pt x="17006287" y="7017867"/>
                </a:lnTo>
                <a:lnTo>
                  <a:pt x="0" y="70178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92634" y="2327681"/>
            <a:ext cx="1868129" cy="81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2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Safeguard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2634" y="3437439"/>
            <a:ext cx="2798969" cy="81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Local Inference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2634" y="4618539"/>
            <a:ext cx="3100264" cy="81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Emotional Safety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2634" y="5732964"/>
            <a:ext cx="3213230" cy="81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Privacy by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91471" y="2375306"/>
            <a:ext cx="4461491" cy="306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96"/>
              </a:lnSpc>
            </a:pPr>
            <a:r>
              <a:rPr lang="en-US" sz="2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Fine tune models + Local</a:t>
            </a:r>
          </a:p>
          <a:p>
            <a:pPr algn="l">
              <a:lnSpc>
                <a:spcPts val="1449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APIs</a:t>
            </a:r>
          </a:p>
          <a:p>
            <a:pPr algn="l">
              <a:lnSpc>
                <a:spcPts val="724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Telegram Alert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91471" y="5732964"/>
            <a:ext cx="3761165" cy="81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Anonymous User IDs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90309" y="2375306"/>
            <a:ext cx="4944894" cy="3994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96"/>
              </a:lnSpc>
            </a:pPr>
            <a:r>
              <a:rPr lang="en-US" sz="28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Description </a:t>
            </a:r>
            <a:r>
              <a:rPr lang="en-US" sz="2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cloud dependency;</a:t>
            </a:r>
          </a:p>
          <a:p>
            <a:pPr algn="l">
              <a:lnSpc>
                <a:spcPts val="1449"/>
              </a:lnSpc>
            </a:pPr>
            <a:r>
              <a:rPr lang="en-US" sz="2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ensures user privacy</a:t>
            </a:r>
          </a:p>
          <a:p>
            <a:pPr algn="l">
              <a:lnSpc>
                <a:spcPts val="7248"/>
              </a:lnSpc>
            </a:pPr>
            <a:r>
              <a:rPr lang="en-US" sz="2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Triggers automatic alert for</a:t>
            </a:r>
          </a:p>
          <a:p>
            <a:pPr algn="l">
              <a:lnSpc>
                <a:spcPts val="1449"/>
              </a:lnSpc>
            </a:pPr>
            <a:r>
              <a:rPr lang="en-US" sz="2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distress or crisis</a:t>
            </a:r>
          </a:p>
          <a:p>
            <a:pPr algn="l">
              <a:lnSpc>
                <a:spcPts val="1449"/>
              </a:lnSpc>
            </a:pPr>
            <a:endParaRPr lang="en-US" sz="28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7248"/>
              </a:lnSpc>
            </a:pPr>
            <a:r>
              <a:rPr lang="en-US" sz="2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personal data stored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75329"/>
            <a:ext cx="11709073" cy="74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7"/>
              </a:lnSpc>
            </a:pPr>
            <a:r>
              <a:rPr lang="en-US" sz="3991" spc="19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SUMMARY OF ETHICAL SAFEGUARDS AND PRIVACY CONTROLS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8671512"/>
            <a:ext cx="2692165" cy="1678991"/>
          </a:xfrm>
          <a:custGeom>
            <a:avLst/>
            <a:gdLst/>
            <a:ahLst/>
            <a:cxnLst/>
            <a:rect l="l" t="t" r="r" b="b"/>
            <a:pathLst>
              <a:path w="2692165" h="1678991">
                <a:moveTo>
                  <a:pt x="0" y="0"/>
                </a:moveTo>
                <a:lnTo>
                  <a:pt x="2692165" y="0"/>
                </a:lnTo>
                <a:lnTo>
                  <a:pt x="2692165" y="1678991"/>
                </a:lnTo>
                <a:lnTo>
                  <a:pt x="0" y="1678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38657" y="2794673"/>
            <a:ext cx="7010686" cy="4697511"/>
          </a:xfrm>
          <a:custGeom>
            <a:avLst/>
            <a:gdLst/>
            <a:ahLst/>
            <a:cxnLst/>
            <a:rect l="l" t="t" r="r" b="b"/>
            <a:pathLst>
              <a:path w="7010686" h="4697511">
                <a:moveTo>
                  <a:pt x="0" y="0"/>
                </a:moveTo>
                <a:lnTo>
                  <a:pt x="7010686" y="0"/>
                </a:lnTo>
                <a:lnTo>
                  <a:pt x="7010686" y="4697511"/>
                </a:lnTo>
                <a:lnTo>
                  <a:pt x="0" y="4697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376257" y="9375257"/>
            <a:ext cx="975246" cy="975246"/>
          </a:xfrm>
          <a:custGeom>
            <a:avLst/>
            <a:gdLst/>
            <a:ahLst/>
            <a:cxnLst/>
            <a:rect l="l" t="t" r="r" b="b"/>
            <a:pathLst>
              <a:path w="975246" h="975246">
                <a:moveTo>
                  <a:pt x="0" y="0"/>
                </a:moveTo>
                <a:lnTo>
                  <a:pt x="975246" y="0"/>
                </a:lnTo>
                <a:lnTo>
                  <a:pt x="975246" y="975246"/>
                </a:lnTo>
                <a:lnTo>
                  <a:pt x="0" y="975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48354" y="-66551"/>
            <a:ext cx="3406197" cy="2767822"/>
          </a:xfrm>
          <a:custGeom>
            <a:avLst/>
            <a:gdLst/>
            <a:ahLst/>
            <a:cxnLst/>
            <a:rect l="l" t="t" r="r" b="b"/>
            <a:pathLst>
              <a:path w="3406197" h="2767822">
                <a:moveTo>
                  <a:pt x="0" y="0"/>
                </a:moveTo>
                <a:lnTo>
                  <a:pt x="3406197" y="0"/>
                </a:lnTo>
                <a:lnTo>
                  <a:pt x="3406197" y="2767822"/>
                </a:lnTo>
                <a:lnTo>
                  <a:pt x="0" y="2767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83018" y="2758278"/>
            <a:ext cx="2941244" cy="448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85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Metric Accuracy Precision Recall F1 Score Validation Loss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20200" y="2910678"/>
            <a:ext cx="1114396" cy="53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25483" y="3518459"/>
            <a:ext cx="1509065" cy="372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85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90.70% 90.80% 90.70% 90.70% 0.23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43855" y="685362"/>
            <a:ext cx="10607954" cy="151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9"/>
              </a:lnSpc>
            </a:pPr>
            <a:r>
              <a:rPr lang="en-US" sz="5555" spc="27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EVALUATION METRICS FOR BERT-BASED EMOTION CLASSIFICATION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51694" y="2634148"/>
            <a:ext cx="117967" cy="117967"/>
            <a:chOff x="0" y="0"/>
            <a:chExt cx="117970" cy="1179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983" cy="117856"/>
            </a:xfrm>
            <a:custGeom>
              <a:avLst/>
              <a:gdLst/>
              <a:ahLst/>
              <a:cxnLst/>
              <a:rect l="l" t="t" r="r" b="b"/>
              <a:pathLst>
                <a:path w="117983" h="117856">
                  <a:moveTo>
                    <a:pt x="117983" y="58928"/>
                  </a:moveTo>
                  <a:cubicBezTo>
                    <a:pt x="117983" y="62738"/>
                    <a:pt x="117602" y="66675"/>
                    <a:pt x="116840" y="70485"/>
                  </a:cubicBezTo>
                  <a:cubicBezTo>
                    <a:pt x="116078" y="74295"/>
                    <a:pt x="114935" y="77978"/>
                    <a:pt x="113538" y="81534"/>
                  </a:cubicBezTo>
                  <a:cubicBezTo>
                    <a:pt x="112141" y="85090"/>
                    <a:pt x="110236" y="88519"/>
                    <a:pt x="108077" y="91694"/>
                  </a:cubicBezTo>
                  <a:cubicBezTo>
                    <a:pt x="105918" y="94869"/>
                    <a:pt x="103505" y="97917"/>
                    <a:pt x="100711" y="100584"/>
                  </a:cubicBezTo>
                  <a:cubicBezTo>
                    <a:pt x="97917" y="103251"/>
                    <a:pt x="94996" y="105791"/>
                    <a:pt x="91821" y="107950"/>
                  </a:cubicBezTo>
                  <a:cubicBezTo>
                    <a:pt x="88646" y="110109"/>
                    <a:pt x="85217" y="111887"/>
                    <a:pt x="81661" y="113411"/>
                  </a:cubicBezTo>
                  <a:cubicBezTo>
                    <a:pt x="78105" y="114935"/>
                    <a:pt x="74422" y="115951"/>
                    <a:pt x="70612" y="116713"/>
                  </a:cubicBezTo>
                  <a:cubicBezTo>
                    <a:pt x="66802" y="117475"/>
                    <a:pt x="62992" y="117856"/>
                    <a:pt x="59055" y="117856"/>
                  </a:cubicBezTo>
                  <a:cubicBezTo>
                    <a:pt x="55118" y="117856"/>
                    <a:pt x="51308" y="117475"/>
                    <a:pt x="47498" y="116713"/>
                  </a:cubicBezTo>
                  <a:cubicBezTo>
                    <a:pt x="43688" y="115951"/>
                    <a:pt x="40005" y="114808"/>
                    <a:pt x="36449" y="113411"/>
                  </a:cubicBezTo>
                  <a:cubicBezTo>
                    <a:pt x="32893" y="112014"/>
                    <a:pt x="29464" y="110109"/>
                    <a:pt x="26289" y="107950"/>
                  </a:cubicBezTo>
                  <a:cubicBezTo>
                    <a:pt x="23114" y="105791"/>
                    <a:pt x="20066" y="103378"/>
                    <a:pt x="17399" y="100584"/>
                  </a:cubicBezTo>
                  <a:cubicBezTo>
                    <a:pt x="14732" y="97790"/>
                    <a:pt x="12192" y="94869"/>
                    <a:pt x="10033" y="91694"/>
                  </a:cubicBezTo>
                  <a:cubicBezTo>
                    <a:pt x="7874" y="88519"/>
                    <a:pt x="6096" y="85090"/>
                    <a:pt x="4572" y="81534"/>
                  </a:cubicBezTo>
                  <a:cubicBezTo>
                    <a:pt x="3048" y="77978"/>
                    <a:pt x="2032" y="74295"/>
                    <a:pt x="1270" y="70485"/>
                  </a:cubicBezTo>
                  <a:cubicBezTo>
                    <a:pt x="508" y="66675"/>
                    <a:pt x="0" y="62865"/>
                    <a:pt x="0" y="58928"/>
                  </a:cubicBezTo>
                  <a:cubicBezTo>
                    <a:pt x="0" y="54991"/>
                    <a:pt x="381" y="51181"/>
                    <a:pt x="1143" y="47371"/>
                  </a:cubicBezTo>
                  <a:cubicBezTo>
                    <a:pt x="1905" y="43561"/>
                    <a:pt x="3048" y="39878"/>
                    <a:pt x="4445" y="36322"/>
                  </a:cubicBezTo>
                  <a:cubicBezTo>
                    <a:pt x="5842" y="32766"/>
                    <a:pt x="7747" y="29337"/>
                    <a:pt x="9906" y="26162"/>
                  </a:cubicBezTo>
                  <a:cubicBezTo>
                    <a:pt x="12065" y="22987"/>
                    <a:pt x="14478" y="19939"/>
                    <a:pt x="17272" y="17272"/>
                  </a:cubicBezTo>
                  <a:cubicBezTo>
                    <a:pt x="20066" y="14605"/>
                    <a:pt x="22987" y="12065"/>
                    <a:pt x="26162" y="9906"/>
                  </a:cubicBezTo>
                  <a:cubicBezTo>
                    <a:pt x="29337" y="7747"/>
                    <a:pt x="32766" y="5969"/>
                    <a:pt x="36322" y="4445"/>
                  </a:cubicBezTo>
                  <a:cubicBezTo>
                    <a:pt x="39878" y="2921"/>
                    <a:pt x="43561" y="1905"/>
                    <a:pt x="47371" y="1143"/>
                  </a:cubicBezTo>
                  <a:cubicBezTo>
                    <a:pt x="51181" y="381"/>
                    <a:pt x="54991" y="0"/>
                    <a:pt x="58928" y="0"/>
                  </a:cubicBezTo>
                  <a:cubicBezTo>
                    <a:pt x="62865" y="0"/>
                    <a:pt x="66675" y="381"/>
                    <a:pt x="70485" y="1143"/>
                  </a:cubicBezTo>
                  <a:cubicBezTo>
                    <a:pt x="74295" y="1905"/>
                    <a:pt x="77978" y="3048"/>
                    <a:pt x="81534" y="4445"/>
                  </a:cubicBezTo>
                  <a:cubicBezTo>
                    <a:pt x="85090" y="5842"/>
                    <a:pt x="88519" y="7747"/>
                    <a:pt x="91694" y="9906"/>
                  </a:cubicBezTo>
                  <a:cubicBezTo>
                    <a:pt x="94869" y="12065"/>
                    <a:pt x="97917" y="14478"/>
                    <a:pt x="100584" y="17272"/>
                  </a:cubicBezTo>
                  <a:cubicBezTo>
                    <a:pt x="103251" y="20066"/>
                    <a:pt x="105791" y="22987"/>
                    <a:pt x="107950" y="26162"/>
                  </a:cubicBezTo>
                  <a:cubicBezTo>
                    <a:pt x="110109" y="29337"/>
                    <a:pt x="111887" y="32766"/>
                    <a:pt x="113411" y="36322"/>
                  </a:cubicBezTo>
                  <a:cubicBezTo>
                    <a:pt x="114935" y="39878"/>
                    <a:pt x="115951" y="43561"/>
                    <a:pt x="116713" y="47371"/>
                  </a:cubicBezTo>
                  <a:cubicBezTo>
                    <a:pt x="117475" y="51181"/>
                    <a:pt x="117856" y="54991"/>
                    <a:pt x="117856" y="58928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51694" y="3194504"/>
            <a:ext cx="117967" cy="117967"/>
            <a:chOff x="0" y="0"/>
            <a:chExt cx="117970" cy="1179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7983" cy="117856"/>
            </a:xfrm>
            <a:custGeom>
              <a:avLst/>
              <a:gdLst/>
              <a:ahLst/>
              <a:cxnLst/>
              <a:rect l="l" t="t" r="r" b="b"/>
              <a:pathLst>
                <a:path w="117983" h="117856">
                  <a:moveTo>
                    <a:pt x="117983" y="58928"/>
                  </a:moveTo>
                  <a:cubicBezTo>
                    <a:pt x="117983" y="62738"/>
                    <a:pt x="117602" y="66675"/>
                    <a:pt x="116840" y="70485"/>
                  </a:cubicBezTo>
                  <a:cubicBezTo>
                    <a:pt x="116078" y="74295"/>
                    <a:pt x="114935" y="77978"/>
                    <a:pt x="113538" y="81534"/>
                  </a:cubicBezTo>
                  <a:cubicBezTo>
                    <a:pt x="112141" y="85090"/>
                    <a:pt x="110236" y="88519"/>
                    <a:pt x="108077" y="91694"/>
                  </a:cubicBezTo>
                  <a:cubicBezTo>
                    <a:pt x="105918" y="94869"/>
                    <a:pt x="103505" y="97917"/>
                    <a:pt x="100711" y="100584"/>
                  </a:cubicBezTo>
                  <a:cubicBezTo>
                    <a:pt x="97917" y="103251"/>
                    <a:pt x="94996" y="105791"/>
                    <a:pt x="91821" y="107950"/>
                  </a:cubicBezTo>
                  <a:cubicBezTo>
                    <a:pt x="88646" y="110109"/>
                    <a:pt x="85217" y="111887"/>
                    <a:pt x="81661" y="113411"/>
                  </a:cubicBezTo>
                  <a:cubicBezTo>
                    <a:pt x="78105" y="114935"/>
                    <a:pt x="74422" y="115951"/>
                    <a:pt x="70612" y="116713"/>
                  </a:cubicBezTo>
                  <a:cubicBezTo>
                    <a:pt x="66802" y="117475"/>
                    <a:pt x="62992" y="117856"/>
                    <a:pt x="59055" y="117856"/>
                  </a:cubicBezTo>
                  <a:cubicBezTo>
                    <a:pt x="55118" y="117856"/>
                    <a:pt x="51308" y="117475"/>
                    <a:pt x="47498" y="116713"/>
                  </a:cubicBezTo>
                  <a:cubicBezTo>
                    <a:pt x="43688" y="115951"/>
                    <a:pt x="40005" y="114808"/>
                    <a:pt x="36449" y="113411"/>
                  </a:cubicBezTo>
                  <a:cubicBezTo>
                    <a:pt x="32893" y="112014"/>
                    <a:pt x="29464" y="110109"/>
                    <a:pt x="26289" y="107950"/>
                  </a:cubicBezTo>
                  <a:cubicBezTo>
                    <a:pt x="23114" y="105791"/>
                    <a:pt x="20066" y="103378"/>
                    <a:pt x="17399" y="100584"/>
                  </a:cubicBezTo>
                  <a:cubicBezTo>
                    <a:pt x="14732" y="97790"/>
                    <a:pt x="12192" y="94869"/>
                    <a:pt x="10033" y="91694"/>
                  </a:cubicBezTo>
                  <a:cubicBezTo>
                    <a:pt x="7874" y="88519"/>
                    <a:pt x="6096" y="85090"/>
                    <a:pt x="4572" y="81534"/>
                  </a:cubicBezTo>
                  <a:cubicBezTo>
                    <a:pt x="3048" y="77978"/>
                    <a:pt x="2032" y="74295"/>
                    <a:pt x="1270" y="70485"/>
                  </a:cubicBezTo>
                  <a:cubicBezTo>
                    <a:pt x="508" y="66675"/>
                    <a:pt x="0" y="62865"/>
                    <a:pt x="0" y="58928"/>
                  </a:cubicBezTo>
                  <a:cubicBezTo>
                    <a:pt x="0" y="54991"/>
                    <a:pt x="381" y="51181"/>
                    <a:pt x="1143" y="47371"/>
                  </a:cubicBezTo>
                  <a:cubicBezTo>
                    <a:pt x="1905" y="43561"/>
                    <a:pt x="3048" y="39878"/>
                    <a:pt x="4445" y="36322"/>
                  </a:cubicBezTo>
                  <a:cubicBezTo>
                    <a:pt x="5842" y="32766"/>
                    <a:pt x="7747" y="29337"/>
                    <a:pt x="9906" y="26162"/>
                  </a:cubicBezTo>
                  <a:cubicBezTo>
                    <a:pt x="12065" y="22987"/>
                    <a:pt x="14478" y="19939"/>
                    <a:pt x="17272" y="17272"/>
                  </a:cubicBezTo>
                  <a:cubicBezTo>
                    <a:pt x="20066" y="14605"/>
                    <a:pt x="22987" y="12065"/>
                    <a:pt x="26162" y="9906"/>
                  </a:cubicBezTo>
                  <a:cubicBezTo>
                    <a:pt x="29337" y="7747"/>
                    <a:pt x="32766" y="5969"/>
                    <a:pt x="36322" y="4445"/>
                  </a:cubicBezTo>
                  <a:cubicBezTo>
                    <a:pt x="39878" y="2921"/>
                    <a:pt x="43561" y="1905"/>
                    <a:pt x="47371" y="1143"/>
                  </a:cubicBezTo>
                  <a:cubicBezTo>
                    <a:pt x="51181" y="381"/>
                    <a:pt x="54991" y="0"/>
                    <a:pt x="58928" y="0"/>
                  </a:cubicBezTo>
                  <a:cubicBezTo>
                    <a:pt x="62865" y="0"/>
                    <a:pt x="66675" y="381"/>
                    <a:pt x="70485" y="1143"/>
                  </a:cubicBezTo>
                  <a:cubicBezTo>
                    <a:pt x="74295" y="1905"/>
                    <a:pt x="77978" y="3048"/>
                    <a:pt x="81534" y="4445"/>
                  </a:cubicBezTo>
                  <a:cubicBezTo>
                    <a:pt x="85090" y="5842"/>
                    <a:pt x="88519" y="7747"/>
                    <a:pt x="91694" y="9906"/>
                  </a:cubicBezTo>
                  <a:cubicBezTo>
                    <a:pt x="94869" y="12065"/>
                    <a:pt x="97917" y="14478"/>
                    <a:pt x="100584" y="17272"/>
                  </a:cubicBezTo>
                  <a:cubicBezTo>
                    <a:pt x="103251" y="20066"/>
                    <a:pt x="105791" y="22987"/>
                    <a:pt x="107950" y="26162"/>
                  </a:cubicBezTo>
                  <a:cubicBezTo>
                    <a:pt x="110109" y="29337"/>
                    <a:pt x="111887" y="32766"/>
                    <a:pt x="113411" y="36322"/>
                  </a:cubicBezTo>
                  <a:cubicBezTo>
                    <a:pt x="114935" y="39878"/>
                    <a:pt x="115951" y="43561"/>
                    <a:pt x="116713" y="47371"/>
                  </a:cubicBezTo>
                  <a:cubicBezTo>
                    <a:pt x="117475" y="51181"/>
                    <a:pt x="117856" y="54991"/>
                    <a:pt x="117856" y="58928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51694" y="4315216"/>
            <a:ext cx="117967" cy="117967"/>
            <a:chOff x="0" y="0"/>
            <a:chExt cx="117970" cy="117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983" cy="117856"/>
            </a:xfrm>
            <a:custGeom>
              <a:avLst/>
              <a:gdLst/>
              <a:ahLst/>
              <a:cxnLst/>
              <a:rect l="l" t="t" r="r" b="b"/>
              <a:pathLst>
                <a:path w="117983" h="117856">
                  <a:moveTo>
                    <a:pt x="117983" y="58928"/>
                  </a:moveTo>
                  <a:cubicBezTo>
                    <a:pt x="117983" y="62738"/>
                    <a:pt x="117602" y="66675"/>
                    <a:pt x="116840" y="70485"/>
                  </a:cubicBezTo>
                  <a:cubicBezTo>
                    <a:pt x="116078" y="74295"/>
                    <a:pt x="114935" y="77978"/>
                    <a:pt x="113538" y="81534"/>
                  </a:cubicBezTo>
                  <a:cubicBezTo>
                    <a:pt x="112141" y="85090"/>
                    <a:pt x="110236" y="88519"/>
                    <a:pt x="108077" y="91694"/>
                  </a:cubicBezTo>
                  <a:cubicBezTo>
                    <a:pt x="105918" y="94869"/>
                    <a:pt x="103505" y="97917"/>
                    <a:pt x="100711" y="100584"/>
                  </a:cubicBezTo>
                  <a:cubicBezTo>
                    <a:pt x="97917" y="103251"/>
                    <a:pt x="94996" y="105791"/>
                    <a:pt x="91821" y="107950"/>
                  </a:cubicBezTo>
                  <a:cubicBezTo>
                    <a:pt x="88646" y="110109"/>
                    <a:pt x="85217" y="111887"/>
                    <a:pt x="81661" y="113411"/>
                  </a:cubicBezTo>
                  <a:cubicBezTo>
                    <a:pt x="78105" y="114935"/>
                    <a:pt x="74422" y="115951"/>
                    <a:pt x="70612" y="116713"/>
                  </a:cubicBezTo>
                  <a:cubicBezTo>
                    <a:pt x="66802" y="117475"/>
                    <a:pt x="62992" y="117856"/>
                    <a:pt x="59055" y="117856"/>
                  </a:cubicBezTo>
                  <a:cubicBezTo>
                    <a:pt x="55118" y="117856"/>
                    <a:pt x="51308" y="117475"/>
                    <a:pt x="47498" y="116713"/>
                  </a:cubicBezTo>
                  <a:cubicBezTo>
                    <a:pt x="43688" y="115951"/>
                    <a:pt x="40005" y="114808"/>
                    <a:pt x="36449" y="113411"/>
                  </a:cubicBezTo>
                  <a:cubicBezTo>
                    <a:pt x="32893" y="112014"/>
                    <a:pt x="29464" y="110109"/>
                    <a:pt x="26289" y="107950"/>
                  </a:cubicBezTo>
                  <a:cubicBezTo>
                    <a:pt x="23114" y="105791"/>
                    <a:pt x="20066" y="103378"/>
                    <a:pt x="17399" y="100584"/>
                  </a:cubicBezTo>
                  <a:cubicBezTo>
                    <a:pt x="14732" y="97790"/>
                    <a:pt x="12192" y="94869"/>
                    <a:pt x="10033" y="91694"/>
                  </a:cubicBezTo>
                  <a:cubicBezTo>
                    <a:pt x="7874" y="88519"/>
                    <a:pt x="6096" y="85090"/>
                    <a:pt x="4572" y="81534"/>
                  </a:cubicBezTo>
                  <a:cubicBezTo>
                    <a:pt x="3048" y="77978"/>
                    <a:pt x="2032" y="74295"/>
                    <a:pt x="1270" y="70485"/>
                  </a:cubicBezTo>
                  <a:cubicBezTo>
                    <a:pt x="508" y="66675"/>
                    <a:pt x="0" y="62865"/>
                    <a:pt x="0" y="58928"/>
                  </a:cubicBezTo>
                  <a:cubicBezTo>
                    <a:pt x="0" y="54991"/>
                    <a:pt x="381" y="51181"/>
                    <a:pt x="1143" y="47371"/>
                  </a:cubicBezTo>
                  <a:cubicBezTo>
                    <a:pt x="1905" y="43561"/>
                    <a:pt x="3048" y="39878"/>
                    <a:pt x="4445" y="36322"/>
                  </a:cubicBezTo>
                  <a:cubicBezTo>
                    <a:pt x="5842" y="32766"/>
                    <a:pt x="7747" y="29337"/>
                    <a:pt x="9906" y="26162"/>
                  </a:cubicBezTo>
                  <a:cubicBezTo>
                    <a:pt x="12065" y="22987"/>
                    <a:pt x="14478" y="19939"/>
                    <a:pt x="17272" y="17272"/>
                  </a:cubicBezTo>
                  <a:cubicBezTo>
                    <a:pt x="20066" y="14605"/>
                    <a:pt x="22987" y="12065"/>
                    <a:pt x="26162" y="9906"/>
                  </a:cubicBezTo>
                  <a:cubicBezTo>
                    <a:pt x="29337" y="7747"/>
                    <a:pt x="32766" y="5969"/>
                    <a:pt x="36322" y="4445"/>
                  </a:cubicBezTo>
                  <a:cubicBezTo>
                    <a:pt x="39878" y="2921"/>
                    <a:pt x="43561" y="1905"/>
                    <a:pt x="47371" y="1143"/>
                  </a:cubicBezTo>
                  <a:cubicBezTo>
                    <a:pt x="51181" y="381"/>
                    <a:pt x="54991" y="0"/>
                    <a:pt x="58928" y="0"/>
                  </a:cubicBezTo>
                  <a:cubicBezTo>
                    <a:pt x="62865" y="0"/>
                    <a:pt x="66675" y="381"/>
                    <a:pt x="70485" y="1143"/>
                  </a:cubicBezTo>
                  <a:cubicBezTo>
                    <a:pt x="74295" y="1905"/>
                    <a:pt x="77978" y="3048"/>
                    <a:pt x="81534" y="4445"/>
                  </a:cubicBezTo>
                  <a:cubicBezTo>
                    <a:pt x="85090" y="5842"/>
                    <a:pt x="88519" y="7747"/>
                    <a:pt x="91694" y="9906"/>
                  </a:cubicBezTo>
                  <a:cubicBezTo>
                    <a:pt x="94869" y="12065"/>
                    <a:pt x="97917" y="14478"/>
                    <a:pt x="100584" y="17272"/>
                  </a:cubicBezTo>
                  <a:cubicBezTo>
                    <a:pt x="103251" y="20066"/>
                    <a:pt x="105791" y="22987"/>
                    <a:pt x="107950" y="26162"/>
                  </a:cubicBezTo>
                  <a:cubicBezTo>
                    <a:pt x="110109" y="29337"/>
                    <a:pt x="111887" y="32766"/>
                    <a:pt x="113411" y="36322"/>
                  </a:cubicBezTo>
                  <a:cubicBezTo>
                    <a:pt x="114935" y="39878"/>
                    <a:pt x="115951" y="43561"/>
                    <a:pt x="116713" y="47371"/>
                  </a:cubicBezTo>
                  <a:cubicBezTo>
                    <a:pt x="117475" y="51181"/>
                    <a:pt x="117856" y="54991"/>
                    <a:pt x="117856" y="58928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51694" y="4875562"/>
            <a:ext cx="117967" cy="117967"/>
            <a:chOff x="0" y="0"/>
            <a:chExt cx="117970" cy="1179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983" cy="117856"/>
            </a:xfrm>
            <a:custGeom>
              <a:avLst/>
              <a:gdLst/>
              <a:ahLst/>
              <a:cxnLst/>
              <a:rect l="l" t="t" r="r" b="b"/>
              <a:pathLst>
                <a:path w="117983" h="117856">
                  <a:moveTo>
                    <a:pt x="117983" y="58928"/>
                  </a:moveTo>
                  <a:cubicBezTo>
                    <a:pt x="117983" y="62738"/>
                    <a:pt x="117602" y="66675"/>
                    <a:pt x="116840" y="70485"/>
                  </a:cubicBezTo>
                  <a:cubicBezTo>
                    <a:pt x="116078" y="74295"/>
                    <a:pt x="114935" y="77978"/>
                    <a:pt x="113538" y="81534"/>
                  </a:cubicBezTo>
                  <a:cubicBezTo>
                    <a:pt x="112141" y="85090"/>
                    <a:pt x="110236" y="88519"/>
                    <a:pt x="108077" y="91694"/>
                  </a:cubicBezTo>
                  <a:cubicBezTo>
                    <a:pt x="105918" y="94869"/>
                    <a:pt x="103505" y="97917"/>
                    <a:pt x="100711" y="100584"/>
                  </a:cubicBezTo>
                  <a:cubicBezTo>
                    <a:pt x="97917" y="103251"/>
                    <a:pt x="94996" y="105791"/>
                    <a:pt x="91821" y="107950"/>
                  </a:cubicBezTo>
                  <a:cubicBezTo>
                    <a:pt x="88646" y="110109"/>
                    <a:pt x="85217" y="111887"/>
                    <a:pt x="81661" y="113411"/>
                  </a:cubicBezTo>
                  <a:cubicBezTo>
                    <a:pt x="78105" y="114935"/>
                    <a:pt x="74422" y="115951"/>
                    <a:pt x="70612" y="116713"/>
                  </a:cubicBezTo>
                  <a:cubicBezTo>
                    <a:pt x="66802" y="117475"/>
                    <a:pt x="62992" y="117856"/>
                    <a:pt x="59055" y="117856"/>
                  </a:cubicBezTo>
                  <a:cubicBezTo>
                    <a:pt x="55118" y="117856"/>
                    <a:pt x="51308" y="117475"/>
                    <a:pt x="47498" y="116713"/>
                  </a:cubicBezTo>
                  <a:cubicBezTo>
                    <a:pt x="43688" y="115951"/>
                    <a:pt x="40005" y="114808"/>
                    <a:pt x="36449" y="113411"/>
                  </a:cubicBezTo>
                  <a:cubicBezTo>
                    <a:pt x="32893" y="112014"/>
                    <a:pt x="29464" y="110109"/>
                    <a:pt x="26289" y="107950"/>
                  </a:cubicBezTo>
                  <a:cubicBezTo>
                    <a:pt x="23114" y="105791"/>
                    <a:pt x="20066" y="103378"/>
                    <a:pt x="17399" y="100584"/>
                  </a:cubicBezTo>
                  <a:cubicBezTo>
                    <a:pt x="14732" y="97790"/>
                    <a:pt x="12192" y="94869"/>
                    <a:pt x="10033" y="91694"/>
                  </a:cubicBezTo>
                  <a:cubicBezTo>
                    <a:pt x="7874" y="88519"/>
                    <a:pt x="6096" y="85090"/>
                    <a:pt x="4572" y="81534"/>
                  </a:cubicBezTo>
                  <a:cubicBezTo>
                    <a:pt x="3048" y="77978"/>
                    <a:pt x="2032" y="74295"/>
                    <a:pt x="1270" y="70485"/>
                  </a:cubicBezTo>
                  <a:cubicBezTo>
                    <a:pt x="508" y="66675"/>
                    <a:pt x="0" y="62865"/>
                    <a:pt x="0" y="58928"/>
                  </a:cubicBezTo>
                  <a:cubicBezTo>
                    <a:pt x="0" y="54991"/>
                    <a:pt x="381" y="51181"/>
                    <a:pt x="1143" y="47371"/>
                  </a:cubicBezTo>
                  <a:cubicBezTo>
                    <a:pt x="1905" y="43561"/>
                    <a:pt x="3048" y="39878"/>
                    <a:pt x="4445" y="36322"/>
                  </a:cubicBezTo>
                  <a:cubicBezTo>
                    <a:pt x="5842" y="32766"/>
                    <a:pt x="7747" y="29337"/>
                    <a:pt x="9906" y="26162"/>
                  </a:cubicBezTo>
                  <a:cubicBezTo>
                    <a:pt x="12065" y="22987"/>
                    <a:pt x="14478" y="19939"/>
                    <a:pt x="17272" y="17272"/>
                  </a:cubicBezTo>
                  <a:cubicBezTo>
                    <a:pt x="20066" y="14605"/>
                    <a:pt x="22987" y="12065"/>
                    <a:pt x="26162" y="9906"/>
                  </a:cubicBezTo>
                  <a:cubicBezTo>
                    <a:pt x="29337" y="7747"/>
                    <a:pt x="32766" y="5969"/>
                    <a:pt x="36322" y="4445"/>
                  </a:cubicBezTo>
                  <a:cubicBezTo>
                    <a:pt x="39878" y="2921"/>
                    <a:pt x="43561" y="1905"/>
                    <a:pt x="47371" y="1143"/>
                  </a:cubicBezTo>
                  <a:cubicBezTo>
                    <a:pt x="51181" y="381"/>
                    <a:pt x="54991" y="0"/>
                    <a:pt x="58928" y="0"/>
                  </a:cubicBezTo>
                  <a:cubicBezTo>
                    <a:pt x="62865" y="0"/>
                    <a:pt x="66675" y="381"/>
                    <a:pt x="70485" y="1143"/>
                  </a:cubicBezTo>
                  <a:cubicBezTo>
                    <a:pt x="74295" y="1905"/>
                    <a:pt x="77978" y="3048"/>
                    <a:pt x="81534" y="4445"/>
                  </a:cubicBezTo>
                  <a:cubicBezTo>
                    <a:pt x="85090" y="5842"/>
                    <a:pt x="88519" y="7747"/>
                    <a:pt x="91694" y="9906"/>
                  </a:cubicBezTo>
                  <a:cubicBezTo>
                    <a:pt x="94869" y="12065"/>
                    <a:pt x="97917" y="14478"/>
                    <a:pt x="100584" y="17272"/>
                  </a:cubicBezTo>
                  <a:cubicBezTo>
                    <a:pt x="103251" y="20066"/>
                    <a:pt x="105791" y="22987"/>
                    <a:pt x="107950" y="26162"/>
                  </a:cubicBezTo>
                  <a:cubicBezTo>
                    <a:pt x="110109" y="29337"/>
                    <a:pt x="111887" y="32766"/>
                    <a:pt x="113411" y="36322"/>
                  </a:cubicBezTo>
                  <a:cubicBezTo>
                    <a:pt x="114935" y="39878"/>
                    <a:pt x="115951" y="43561"/>
                    <a:pt x="116713" y="47371"/>
                  </a:cubicBezTo>
                  <a:cubicBezTo>
                    <a:pt x="117475" y="51181"/>
                    <a:pt x="117856" y="54991"/>
                    <a:pt x="117856" y="58928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751694" y="5996273"/>
            <a:ext cx="117967" cy="117967"/>
            <a:chOff x="0" y="0"/>
            <a:chExt cx="117970" cy="1179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7983" cy="117856"/>
            </a:xfrm>
            <a:custGeom>
              <a:avLst/>
              <a:gdLst/>
              <a:ahLst/>
              <a:cxnLst/>
              <a:rect l="l" t="t" r="r" b="b"/>
              <a:pathLst>
                <a:path w="117983" h="117856">
                  <a:moveTo>
                    <a:pt x="117983" y="58928"/>
                  </a:moveTo>
                  <a:cubicBezTo>
                    <a:pt x="117983" y="62738"/>
                    <a:pt x="117602" y="66675"/>
                    <a:pt x="116840" y="70485"/>
                  </a:cubicBezTo>
                  <a:cubicBezTo>
                    <a:pt x="116078" y="74295"/>
                    <a:pt x="114935" y="77978"/>
                    <a:pt x="113538" y="81534"/>
                  </a:cubicBezTo>
                  <a:cubicBezTo>
                    <a:pt x="112141" y="85090"/>
                    <a:pt x="110236" y="88519"/>
                    <a:pt x="108077" y="91694"/>
                  </a:cubicBezTo>
                  <a:cubicBezTo>
                    <a:pt x="105918" y="94869"/>
                    <a:pt x="103505" y="97917"/>
                    <a:pt x="100711" y="100584"/>
                  </a:cubicBezTo>
                  <a:cubicBezTo>
                    <a:pt x="97917" y="103251"/>
                    <a:pt x="94996" y="105791"/>
                    <a:pt x="91821" y="107950"/>
                  </a:cubicBezTo>
                  <a:cubicBezTo>
                    <a:pt x="88646" y="110109"/>
                    <a:pt x="85217" y="111887"/>
                    <a:pt x="81661" y="113411"/>
                  </a:cubicBezTo>
                  <a:cubicBezTo>
                    <a:pt x="78105" y="114935"/>
                    <a:pt x="74422" y="115951"/>
                    <a:pt x="70612" y="116713"/>
                  </a:cubicBezTo>
                  <a:cubicBezTo>
                    <a:pt x="66802" y="117475"/>
                    <a:pt x="62992" y="117856"/>
                    <a:pt x="59055" y="117856"/>
                  </a:cubicBezTo>
                  <a:cubicBezTo>
                    <a:pt x="55118" y="117856"/>
                    <a:pt x="51308" y="117475"/>
                    <a:pt x="47498" y="116713"/>
                  </a:cubicBezTo>
                  <a:cubicBezTo>
                    <a:pt x="43688" y="115951"/>
                    <a:pt x="40005" y="114808"/>
                    <a:pt x="36449" y="113411"/>
                  </a:cubicBezTo>
                  <a:cubicBezTo>
                    <a:pt x="32893" y="112014"/>
                    <a:pt x="29464" y="110109"/>
                    <a:pt x="26289" y="107950"/>
                  </a:cubicBezTo>
                  <a:cubicBezTo>
                    <a:pt x="23114" y="105791"/>
                    <a:pt x="20066" y="103378"/>
                    <a:pt x="17399" y="100584"/>
                  </a:cubicBezTo>
                  <a:cubicBezTo>
                    <a:pt x="14732" y="97790"/>
                    <a:pt x="12192" y="94869"/>
                    <a:pt x="10033" y="91694"/>
                  </a:cubicBezTo>
                  <a:cubicBezTo>
                    <a:pt x="7874" y="88519"/>
                    <a:pt x="6096" y="85090"/>
                    <a:pt x="4572" y="81534"/>
                  </a:cubicBezTo>
                  <a:cubicBezTo>
                    <a:pt x="3048" y="77978"/>
                    <a:pt x="2032" y="74295"/>
                    <a:pt x="1270" y="70485"/>
                  </a:cubicBezTo>
                  <a:cubicBezTo>
                    <a:pt x="508" y="66675"/>
                    <a:pt x="0" y="62865"/>
                    <a:pt x="0" y="58928"/>
                  </a:cubicBezTo>
                  <a:cubicBezTo>
                    <a:pt x="0" y="54991"/>
                    <a:pt x="381" y="51181"/>
                    <a:pt x="1143" y="47371"/>
                  </a:cubicBezTo>
                  <a:cubicBezTo>
                    <a:pt x="1905" y="43561"/>
                    <a:pt x="3048" y="39878"/>
                    <a:pt x="4445" y="36322"/>
                  </a:cubicBezTo>
                  <a:cubicBezTo>
                    <a:pt x="5842" y="32766"/>
                    <a:pt x="7747" y="29337"/>
                    <a:pt x="9906" y="26162"/>
                  </a:cubicBezTo>
                  <a:cubicBezTo>
                    <a:pt x="12065" y="22987"/>
                    <a:pt x="14478" y="19939"/>
                    <a:pt x="17272" y="17272"/>
                  </a:cubicBezTo>
                  <a:cubicBezTo>
                    <a:pt x="20066" y="14605"/>
                    <a:pt x="22987" y="12065"/>
                    <a:pt x="26162" y="9906"/>
                  </a:cubicBezTo>
                  <a:cubicBezTo>
                    <a:pt x="29337" y="7747"/>
                    <a:pt x="32766" y="5969"/>
                    <a:pt x="36322" y="4445"/>
                  </a:cubicBezTo>
                  <a:cubicBezTo>
                    <a:pt x="39878" y="2921"/>
                    <a:pt x="43561" y="1905"/>
                    <a:pt x="47371" y="1143"/>
                  </a:cubicBezTo>
                  <a:cubicBezTo>
                    <a:pt x="51181" y="381"/>
                    <a:pt x="54991" y="0"/>
                    <a:pt x="58928" y="0"/>
                  </a:cubicBezTo>
                  <a:cubicBezTo>
                    <a:pt x="62865" y="0"/>
                    <a:pt x="66675" y="381"/>
                    <a:pt x="70485" y="1143"/>
                  </a:cubicBezTo>
                  <a:cubicBezTo>
                    <a:pt x="74295" y="1905"/>
                    <a:pt x="77978" y="3048"/>
                    <a:pt x="81534" y="4445"/>
                  </a:cubicBezTo>
                  <a:cubicBezTo>
                    <a:pt x="85090" y="5842"/>
                    <a:pt x="88519" y="7747"/>
                    <a:pt x="91694" y="9906"/>
                  </a:cubicBezTo>
                  <a:cubicBezTo>
                    <a:pt x="94869" y="12065"/>
                    <a:pt x="97917" y="14478"/>
                    <a:pt x="100584" y="17272"/>
                  </a:cubicBezTo>
                  <a:cubicBezTo>
                    <a:pt x="103251" y="20066"/>
                    <a:pt x="105791" y="22987"/>
                    <a:pt x="107950" y="26162"/>
                  </a:cubicBezTo>
                  <a:cubicBezTo>
                    <a:pt x="110109" y="29337"/>
                    <a:pt x="111887" y="32766"/>
                    <a:pt x="113411" y="36322"/>
                  </a:cubicBezTo>
                  <a:cubicBezTo>
                    <a:pt x="114935" y="39878"/>
                    <a:pt x="115951" y="43561"/>
                    <a:pt x="116713" y="47371"/>
                  </a:cubicBezTo>
                  <a:cubicBezTo>
                    <a:pt x="117475" y="51181"/>
                    <a:pt x="117856" y="54991"/>
                    <a:pt x="117856" y="58928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751694" y="6556629"/>
            <a:ext cx="117967" cy="117967"/>
            <a:chOff x="0" y="0"/>
            <a:chExt cx="117970" cy="1179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983" cy="117856"/>
            </a:xfrm>
            <a:custGeom>
              <a:avLst/>
              <a:gdLst/>
              <a:ahLst/>
              <a:cxnLst/>
              <a:rect l="l" t="t" r="r" b="b"/>
              <a:pathLst>
                <a:path w="117983" h="117856">
                  <a:moveTo>
                    <a:pt x="117983" y="58928"/>
                  </a:moveTo>
                  <a:cubicBezTo>
                    <a:pt x="117983" y="62738"/>
                    <a:pt x="117602" y="66675"/>
                    <a:pt x="116840" y="70485"/>
                  </a:cubicBezTo>
                  <a:cubicBezTo>
                    <a:pt x="116078" y="74295"/>
                    <a:pt x="114935" y="77978"/>
                    <a:pt x="113538" y="81534"/>
                  </a:cubicBezTo>
                  <a:cubicBezTo>
                    <a:pt x="112141" y="85090"/>
                    <a:pt x="110236" y="88519"/>
                    <a:pt x="108077" y="91694"/>
                  </a:cubicBezTo>
                  <a:cubicBezTo>
                    <a:pt x="105918" y="94869"/>
                    <a:pt x="103505" y="97917"/>
                    <a:pt x="100711" y="100584"/>
                  </a:cubicBezTo>
                  <a:cubicBezTo>
                    <a:pt x="97917" y="103251"/>
                    <a:pt x="94996" y="105791"/>
                    <a:pt x="91821" y="107950"/>
                  </a:cubicBezTo>
                  <a:cubicBezTo>
                    <a:pt x="88646" y="110109"/>
                    <a:pt x="85217" y="111887"/>
                    <a:pt x="81661" y="113411"/>
                  </a:cubicBezTo>
                  <a:cubicBezTo>
                    <a:pt x="78105" y="114935"/>
                    <a:pt x="74422" y="115951"/>
                    <a:pt x="70612" y="116713"/>
                  </a:cubicBezTo>
                  <a:cubicBezTo>
                    <a:pt x="66802" y="117475"/>
                    <a:pt x="62992" y="117856"/>
                    <a:pt x="59055" y="117856"/>
                  </a:cubicBezTo>
                  <a:cubicBezTo>
                    <a:pt x="55118" y="117856"/>
                    <a:pt x="51308" y="117475"/>
                    <a:pt x="47498" y="116713"/>
                  </a:cubicBezTo>
                  <a:cubicBezTo>
                    <a:pt x="43688" y="115951"/>
                    <a:pt x="40005" y="114808"/>
                    <a:pt x="36449" y="113411"/>
                  </a:cubicBezTo>
                  <a:cubicBezTo>
                    <a:pt x="32893" y="112014"/>
                    <a:pt x="29464" y="110109"/>
                    <a:pt x="26289" y="107950"/>
                  </a:cubicBezTo>
                  <a:cubicBezTo>
                    <a:pt x="23114" y="105791"/>
                    <a:pt x="20066" y="103378"/>
                    <a:pt x="17399" y="100584"/>
                  </a:cubicBezTo>
                  <a:cubicBezTo>
                    <a:pt x="14732" y="97790"/>
                    <a:pt x="12192" y="94869"/>
                    <a:pt x="10033" y="91694"/>
                  </a:cubicBezTo>
                  <a:cubicBezTo>
                    <a:pt x="7874" y="88519"/>
                    <a:pt x="6096" y="85090"/>
                    <a:pt x="4572" y="81534"/>
                  </a:cubicBezTo>
                  <a:cubicBezTo>
                    <a:pt x="3048" y="77978"/>
                    <a:pt x="2032" y="74295"/>
                    <a:pt x="1270" y="70485"/>
                  </a:cubicBezTo>
                  <a:cubicBezTo>
                    <a:pt x="508" y="66675"/>
                    <a:pt x="0" y="62865"/>
                    <a:pt x="0" y="58928"/>
                  </a:cubicBezTo>
                  <a:cubicBezTo>
                    <a:pt x="0" y="54991"/>
                    <a:pt x="381" y="51181"/>
                    <a:pt x="1143" y="47371"/>
                  </a:cubicBezTo>
                  <a:cubicBezTo>
                    <a:pt x="1905" y="43561"/>
                    <a:pt x="3048" y="39878"/>
                    <a:pt x="4445" y="36322"/>
                  </a:cubicBezTo>
                  <a:cubicBezTo>
                    <a:pt x="5842" y="32766"/>
                    <a:pt x="7747" y="29337"/>
                    <a:pt x="9906" y="26162"/>
                  </a:cubicBezTo>
                  <a:cubicBezTo>
                    <a:pt x="12065" y="22987"/>
                    <a:pt x="14478" y="19939"/>
                    <a:pt x="17272" y="17272"/>
                  </a:cubicBezTo>
                  <a:cubicBezTo>
                    <a:pt x="20066" y="14605"/>
                    <a:pt x="22987" y="12065"/>
                    <a:pt x="26162" y="9906"/>
                  </a:cubicBezTo>
                  <a:cubicBezTo>
                    <a:pt x="29337" y="7747"/>
                    <a:pt x="32766" y="5969"/>
                    <a:pt x="36322" y="4445"/>
                  </a:cubicBezTo>
                  <a:cubicBezTo>
                    <a:pt x="39878" y="2921"/>
                    <a:pt x="43561" y="1905"/>
                    <a:pt x="47371" y="1143"/>
                  </a:cubicBezTo>
                  <a:cubicBezTo>
                    <a:pt x="51181" y="381"/>
                    <a:pt x="54991" y="0"/>
                    <a:pt x="58928" y="0"/>
                  </a:cubicBezTo>
                  <a:cubicBezTo>
                    <a:pt x="62865" y="0"/>
                    <a:pt x="66675" y="381"/>
                    <a:pt x="70485" y="1143"/>
                  </a:cubicBezTo>
                  <a:cubicBezTo>
                    <a:pt x="74295" y="1905"/>
                    <a:pt x="77978" y="3048"/>
                    <a:pt x="81534" y="4445"/>
                  </a:cubicBezTo>
                  <a:cubicBezTo>
                    <a:pt x="85090" y="5842"/>
                    <a:pt x="88519" y="7747"/>
                    <a:pt x="91694" y="9906"/>
                  </a:cubicBezTo>
                  <a:cubicBezTo>
                    <a:pt x="94869" y="12065"/>
                    <a:pt x="97917" y="14478"/>
                    <a:pt x="100584" y="17272"/>
                  </a:cubicBezTo>
                  <a:cubicBezTo>
                    <a:pt x="103251" y="20066"/>
                    <a:pt x="105791" y="22987"/>
                    <a:pt x="107950" y="26162"/>
                  </a:cubicBezTo>
                  <a:cubicBezTo>
                    <a:pt x="110109" y="29337"/>
                    <a:pt x="111887" y="32766"/>
                    <a:pt x="113411" y="36322"/>
                  </a:cubicBezTo>
                  <a:cubicBezTo>
                    <a:pt x="114935" y="39878"/>
                    <a:pt x="115951" y="43561"/>
                    <a:pt x="116713" y="47371"/>
                  </a:cubicBezTo>
                  <a:cubicBezTo>
                    <a:pt x="117475" y="51181"/>
                    <a:pt x="117856" y="54991"/>
                    <a:pt x="117856" y="58928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751694" y="7677340"/>
            <a:ext cx="117967" cy="117967"/>
            <a:chOff x="0" y="0"/>
            <a:chExt cx="117970" cy="1179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7983" cy="117856"/>
            </a:xfrm>
            <a:custGeom>
              <a:avLst/>
              <a:gdLst/>
              <a:ahLst/>
              <a:cxnLst/>
              <a:rect l="l" t="t" r="r" b="b"/>
              <a:pathLst>
                <a:path w="117983" h="117856">
                  <a:moveTo>
                    <a:pt x="117983" y="58928"/>
                  </a:moveTo>
                  <a:cubicBezTo>
                    <a:pt x="117983" y="62738"/>
                    <a:pt x="117602" y="66675"/>
                    <a:pt x="116840" y="70485"/>
                  </a:cubicBezTo>
                  <a:cubicBezTo>
                    <a:pt x="116078" y="74295"/>
                    <a:pt x="114935" y="77978"/>
                    <a:pt x="113538" y="81534"/>
                  </a:cubicBezTo>
                  <a:cubicBezTo>
                    <a:pt x="112141" y="85090"/>
                    <a:pt x="110236" y="88519"/>
                    <a:pt x="108077" y="91694"/>
                  </a:cubicBezTo>
                  <a:cubicBezTo>
                    <a:pt x="105918" y="94869"/>
                    <a:pt x="103505" y="97917"/>
                    <a:pt x="100711" y="100584"/>
                  </a:cubicBezTo>
                  <a:cubicBezTo>
                    <a:pt x="97917" y="103251"/>
                    <a:pt x="94996" y="105791"/>
                    <a:pt x="91821" y="107950"/>
                  </a:cubicBezTo>
                  <a:cubicBezTo>
                    <a:pt x="88646" y="110109"/>
                    <a:pt x="85217" y="111887"/>
                    <a:pt x="81661" y="113411"/>
                  </a:cubicBezTo>
                  <a:cubicBezTo>
                    <a:pt x="78105" y="114935"/>
                    <a:pt x="74422" y="115951"/>
                    <a:pt x="70612" y="116713"/>
                  </a:cubicBezTo>
                  <a:cubicBezTo>
                    <a:pt x="66802" y="117475"/>
                    <a:pt x="62992" y="117856"/>
                    <a:pt x="59055" y="117856"/>
                  </a:cubicBezTo>
                  <a:cubicBezTo>
                    <a:pt x="55118" y="117856"/>
                    <a:pt x="51308" y="117475"/>
                    <a:pt x="47498" y="116713"/>
                  </a:cubicBezTo>
                  <a:cubicBezTo>
                    <a:pt x="43688" y="115951"/>
                    <a:pt x="40005" y="114808"/>
                    <a:pt x="36449" y="113411"/>
                  </a:cubicBezTo>
                  <a:cubicBezTo>
                    <a:pt x="32893" y="112014"/>
                    <a:pt x="29464" y="110109"/>
                    <a:pt x="26289" y="107950"/>
                  </a:cubicBezTo>
                  <a:cubicBezTo>
                    <a:pt x="23114" y="105791"/>
                    <a:pt x="20066" y="103378"/>
                    <a:pt x="17399" y="100584"/>
                  </a:cubicBezTo>
                  <a:cubicBezTo>
                    <a:pt x="14732" y="97790"/>
                    <a:pt x="12192" y="94869"/>
                    <a:pt x="10033" y="91694"/>
                  </a:cubicBezTo>
                  <a:cubicBezTo>
                    <a:pt x="7874" y="88519"/>
                    <a:pt x="6096" y="85090"/>
                    <a:pt x="4572" y="81534"/>
                  </a:cubicBezTo>
                  <a:cubicBezTo>
                    <a:pt x="3048" y="77978"/>
                    <a:pt x="2032" y="74295"/>
                    <a:pt x="1270" y="70485"/>
                  </a:cubicBezTo>
                  <a:cubicBezTo>
                    <a:pt x="508" y="66675"/>
                    <a:pt x="0" y="62865"/>
                    <a:pt x="0" y="58928"/>
                  </a:cubicBezTo>
                  <a:cubicBezTo>
                    <a:pt x="0" y="54991"/>
                    <a:pt x="381" y="51181"/>
                    <a:pt x="1143" y="47371"/>
                  </a:cubicBezTo>
                  <a:cubicBezTo>
                    <a:pt x="1905" y="43561"/>
                    <a:pt x="3048" y="39878"/>
                    <a:pt x="4445" y="36322"/>
                  </a:cubicBezTo>
                  <a:cubicBezTo>
                    <a:pt x="5842" y="32766"/>
                    <a:pt x="7747" y="29337"/>
                    <a:pt x="9906" y="26162"/>
                  </a:cubicBezTo>
                  <a:cubicBezTo>
                    <a:pt x="12065" y="22987"/>
                    <a:pt x="14478" y="19939"/>
                    <a:pt x="17272" y="17272"/>
                  </a:cubicBezTo>
                  <a:cubicBezTo>
                    <a:pt x="20066" y="14605"/>
                    <a:pt x="22987" y="12065"/>
                    <a:pt x="26162" y="9906"/>
                  </a:cubicBezTo>
                  <a:cubicBezTo>
                    <a:pt x="29337" y="7747"/>
                    <a:pt x="32766" y="5969"/>
                    <a:pt x="36322" y="4445"/>
                  </a:cubicBezTo>
                  <a:cubicBezTo>
                    <a:pt x="39878" y="2921"/>
                    <a:pt x="43561" y="1905"/>
                    <a:pt x="47371" y="1143"/>
                  </a:cubicBezTo>
                  <a:cubicBezTo>
                    <a:pt x="51181" y="381"/>
                    <a:pt x="54991" y="0"/>
                    <a:pt x="58928" y="0"/>
                  </a:cubicBezTo>
                  <a:cubicBezTo>
                    <a:pt x="62865" y="0"/>
                    <a:pt x="66675" y="381"/>
                    <a:pt x="70485" y="1143"/>
                  </a:cubicBezTo>
                  <a:cubicBezTo>
                    <a:pt x="74295" y="1905"/>
                    <a:pt x="77978" y="3048"/>
                    <a:pt x="81534" y="4445"/>
                  </a:cubicBezTo>
                  <a:cubicBezTo>
                    <a:pt x="85090" y="5842"/>
                    <a:pt x="88519" y="7747"/>
                    <a:pt x="91694" y="9906"/>
                  </a:cubicBezTo>
                  <a:cubicBezTo>
                    <a:pt x="94869" y="12065"/>
                    <a:pt x="97917" y="14478"/>
                    <a:pt x="100584" y="17272"/>
                  </a:cubicBezTo>
                  <a:cubicBezTo>
                    <a:pt x="103251" y="20066"/>
                    <a:pt x="105791" y="22987"/>
                    <a:pt x="107950" y="26162"/>
                  </a:cubicBezTo>
                  <a:cubicBezTo>
                    <a:pt x="110109" y="29337"/>
                    <a:pt x="111887" y="32766"/>
                    <a:pt x="113411" y="36322"/>
                  </a:cubicBezTo>
                  <a:cubicBezTo>
                    <a:pt x="114935" y="39878"/>
                    <a:pt x="115951" y="43561"/>
                    <a:pt x="116713" y="47371"/>
                  </a:cubicBezTo>
                  <a:cubicBezTo>
                    <a:pt x="117475" y="51181"/>
                    <a:pt x="117856" y="54991"/>
                    <a:pt x="117856" y="58928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751694" y="8237696"/>
            <a:ext cx="117967" cy="117967"/>
            <a:chOff x="0" y="0"/>
            <a:chExt cx="117970" cy="1179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983" cy="117856"/>
            </a:xfrm>
            <a:custGeom>
              <a:avLst/>
              <a:gdLst/>
              <a:ahLst/>
              <a:cxnLst/>
              <a:rect l="l" t="t" r="r" b="b"/>
              <a:pathLst>
                <a:path w="117983" h="117856">
                  <a:moveTo>
                    <a:pt x="117983" y="58928"/>
                  </a:moveTo>
                  <a:cubicBezTo>
                    <a:pt x="117983" y="62738"/>
                    <a:pt x="117602" y="66675"/>
                    <a:pt x="116840" y="70485"/>
                  </a:cubicBezTo>
                  <a:cubicBezTo>
                    <a:pt x="116078" y="74295"/>
                    <a:pt x="114935" y="77978"/>
                    <a:pt x="113538" y="81534"/>
                  </a:cubicBezTo>
                  <a:cubicBezTo>
                    <a:pt x="112141" y="85090"/>
                    <a:pt x="110236" y="88519"/>
                    <a:pt x="108077" y="91694"/>
                  </a:cubicBezTo>
                  <a:cubicBezTo>
                    <a:pt x="105918" y="94869"/>
                    <a:pt x="103505" y="97917"/>
                    <a:pt x="100711" y="100584"/>
                  </a:cubicBezTo>
                  <a:cubicBezTo>
                    <a:pt x="97917" y="103251"/>
                    <a:pt x="94996" y="105791"/>
                    <a:pt x="91821" y="107950"/>
                  </a:cubicBezTo>
                  <a:cubicBezTo>
                    <a:pt x="88646" y="110109"/>
                    <a:pt x="85217" y="111887"/>
                    <a:pt x="81661" y="113411"/>
                  </a:cubicBezTo>
                  <a:cubicBezTo>
                    <a:pt x="78105" y="114935"/>
                    <a:pt x="74422" y="115951"/>
                    <a:pt x="70612" y="116713"/>
                  </a:cubicBezTo>
                  <a:cubicBezTo>
                    <a:pt x="66802" y="117475"/>
                    <a:pt x="62992" y="117856"/>
                    <a:pt x="59055" y="117856"/>
                  </a:cubicBezTo>
                  <a:cubicBezTo>
                    <a:pt x="55118" y="117856"/>
                    <a:pt x="51308" y="117475"/>
                    <a:pt x="47498" y="116713"/>
                  </a:cubicBezTo>
                  <a:cubicBezTo>
                    <a:pt x="43688" y="115951"/>
                    <a:pt x="40005" y="114808"/>
                    <a:pt x="36449" y="113411"/>
                  </a:cubicBezTo>
                  <a:cubicBezTo>
                    <a:pt x="32893" y="112014"/>
                    <a:pt x="29464" y="110109"/>
                    <a:pt x="26289" y="107950"/>
                  </a:cubicBezTo>
                  <a:cubicBezTo>
                    <a:pt x="23114" y="105791"/>
                    <a:pt x="20066" y="103378"/>
                    <a:pt x="17399" y="100584"/>
                  </a:cubicBezTo>
                  <a:cubicBezTo>
                    <a:pt x="14732" y="97790"/>
                    <a:pt x="12192" y="94869"/>
                    <a:pt x="10033" y="91694"/>
                  </a:cubicBezTo>
                  <a:cubicBezTo>
                    <a:pt x="7874" y="88519"/>
                    <a:pt x="6096" y="85090"/>
                    <a:pt x="4572" y="81534"/>
                  </a:cubicBezTo>
                  <a:cubicBezTo>
                    <a:pt x="3048" y="77978"/>
                    <a:pt x="2032" y="74295"/>
                    <a:pt x="1270" y="70485"/>
                  </a:cubicBezTo>
                  <a:cubicBezTo>
                    <a:pt x="508" y="66675"/>
                    <a:pt x="0" y="62865"/>
                    <a:pt x="0" y="58928"/>
                  </a:cubicBezTo>
                  <a:cubicBezTo>
                    <a:pt x="0" y="54991"/>
                    <a:pt x="381" y="51181"/>
                    <a:pt x="1143" y="47371"/>
                  </a:cubicBezTo>
                  <a:cubicBezTo>
                    <a:pt x="1905" y="43561"/>
                    <a:pt x="3048" y="39878"/>
                    <a:pt x="4445" y="36322"/>
                  </a:cubicBezTo>
                  <a:cubicBezTo>
                    <a:pt x="5842" y="32766"/>
                    <a:pt x="7747" y="29337"/>
                    <a:pt x="9906" y="26162"/>
                  </a:cubicBezTo>
                  <a:cubicBezTo>
                    <a:pt x="12065" y="22987"/>
                    <a:pt x="14478" y="19939"/>
                    <a:pt x="17272" y="17272"/>
                  </a:cubicBezTo>
                  <a:cubicBezTo>
                    <a:pt x="20066" y="14605"/>
                    <a:pt x="22987" y="12065"/>
                    <a:pt x="26162" y="9906"/>
                  </a:cubicBezTo>
                  <a:cubicBezTo>
                    <a:pt x="29337" y="7747"/>
                    <a:pt x="32766" y="5969"/>
                    <a:pt x="36322" y="4445"/>
                  </a:cubicBezTo>
                  <a:cubicBezTo>
                    <a:pt x="39878" y="2921"/>
                    <a:pt x="43561" y="1905"/>
                    <a:pt x="47371" y="1143"/>
                  </a:cubicBezTo>
                  <a:cubicBezTo>
                    <a:pt x="51181" y="381"/>
                    <a:pt x="54991" y="0"/>
                    <a:pt x="58928" y="0"/>
                  </a:cubicBezTo>
                  <a:cubicBezTo>
                    <a:pt x="62865" y="0"/>
                    <a:pt x="66675" y="381"/>
                    <a:pt x="70485" y="1143"/>
                  </a:cubicBezTo>
                  <a:cubicBezTo>
                    <a:pt x="74295" y="1905"/>
                    <a:pt x="77978" y="3048"/>
                    <a:pt x="81534" y="4445"/>
                  </a:cubicBezTo>
                  <a:cubicBezTo>
                    <a:pt x="85090" y="5842"/>
                    <a:pt x="88519" y="7747"/>
                    <a:pt x="91694" y="9906"/>
                  </a:cubicBezTo>
                  <a:cubicBezTo>
                    <a:pt x="94869" y="12065"/>
                    <a:pt x="97917" y="14478"/>
                    <a:pt x="100584" y="17272"/>
                  </a:cubicBezTo>
                  <a:cubicBezTo>
                    <a:pt x="103251" y="20066"/>
                    <a:pt x="105791" y="22987"/>
                    <a:pt x="107950" y="26162"/>
                  </a:cubicBezTo>
                  <a:cubicBezTo>
                    <a:pt x="110109" y="29337"/>
                    <a:pt x="111887" y="32766"/>
                    <a:pt x="113411" y="36322"/>
                  </a:cubicBezTo>
                  <a:cubicBezTo>
                    <a:pt x="114935" y="39878"/>
                    <a:pt x="115951" y="43561"/>
                    <a:pt x="116713" y="47371"/>
                  </a:cubicBezTo>
                  <a:cubicBezTo>
                    <a:pt x="117475" y="51181"/>
                    <a:pt x="117856" y="54991"/>
                    <a:pt x="117856" y="58928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-63503" y="8998591"/>
            <a:ext cx="2518200" cy="1351902"/>
          </a:xfrm>
          <a:custGeom>
            <a:avLst/>
            <a:gdLst/>
            <a:ahLst/>
            <a:cxnLst/>
            <a:rect l="l" t="t" r="r" b="b"/>
            <a:pathLst>
              <a:path w="2518200" h="1351902">
                <a:moveTo>
                  <a:pt x="0" y="0"/>
                </a:moveTo>
                <a:lnTo>
                  <a:pt x="2518200" y="0"/>
                </a:lnTo>
                <a:lnTo>
                  <a:pt x="2518200" y="1351903"/>
                </a:lnTo>
                <a:lnTo>
                  <a:pt x="0" y="1351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347557" y="8346557"/>
            <a:ext cx="975246" cy="975246"/>
          </a:xfrm>
          <a:custGeom>
            <a:avLst/>
            <a:gdLst/>
            <a:ahLst/>
            <a:cxnLst/>
            <a:rect l="l" t="t" r="r" b="b"/>
            <a:pathLst>
              <a:path w="975246" h="975246">
                <a:moveTo>
                  <a:pt x="0" y="0"/>
                </a:moveTo>
                <a:lnTo>
                  <a:pt x="975246" y="0"/>
                </a:lnTo>
                <a:lnTo>
                  <a:pt x="975246" y="975246"/>
                </a:lnTo>
                <a:lnTo>
                  <a:pt x="0" y="975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532856" y="-63503"/>
            <a:ext cx="2818648" cy="2337102"/>
          </a:xfrm>
          <a:custGeom>
            <a:avLst/>
            <a:gdLst/>
            <a:ahLst/>
            <a:cxnLst/>
            <a:rect l="l" t="t" r="r" b="b"/>
            <a:pathLst>
              <a:path w="2818648" h="2337102">
                <a:moveTo>
                  <a:pt x="0" y="0"/>
                </a:moveTo>
                <a:lnTo>
                  <a:pt x="2818647" y="0"/>
                </a:lnTo>
                <a:lnTo>
                  <a:pt x="2818647" y="2337101"/>
                </a:lnTo>
                <a:lnTo>
                  <a:pt x="0" y="23371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60156" y="127387"/>
            <a:ext cx="11568141" cy="115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24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WHAT WE AIM TO DEVELOP NEXT?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9508" y="1425483"/>
            <a:ext cx="121472" cy="103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65"/>
              </a:lnSpc>
            </a:pPr>
            <a:r>
              <a:rPr lang="en-US" sz="3706" b="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0156" y="1882683"/>
            <a:ext cx="5818022" cy="57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706" b="1" spc="18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1.</a:t>
            </a:r>
            <a:r>
              <a:rPr lang="en-US" sz="3706" b="1" spc="18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3706" b="1" spc="18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Multilingual</a:t>
            </a:r>
            <a:r>
              <a:rPr lang="en-US" sz="3706" b="1" spc="18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3706" b="1" spc="18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Support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0437" y="2409625"/>
            <a:ext cx="16453085" cy="1135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706" spc="181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Expand SoulSync to understand and respond in multiple languages Enable culturally aware emotional responses for diverse users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0156" y="3563750"/>
            <a:ext cx="7479078" cy="57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706" b="1" spc="18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2. Enhanced Crisis Detection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0437" y="4090683"/>
            <a:ext cx="16429091" cy="113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706" spc="181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More accurate multi-class risk classifiers for early warning Smarter triggers combining language cues and emotional intensity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0156" y="5244817"/>
            <a:ext cx="9817522" cy="57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706" b="1" spc="18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3. Mobile &amp; Cross-Platform Expansion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0437" y="5771750"/>
            <a:ext cx="13447852" cy="113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706" spc="181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Android/iOS apps for continuous accessibility Web-based version for lightweight, on-the-go support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0156" y="6925885"/>
            <a:ext cx="7027916" cy="57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706" b="1" spc="18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4. Voice-Based Interaction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0437" y="7452817"/>
            <a:ext cx="16525580" cy="113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706" spc="181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Speech-to-text emotional understanding for natural conversations Calm, supportive AI voice responses for hands-free 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52563" y="2966399"/>
            <a:ext cx="95250" cy="95250"/>
            <a:chOff x="0" y="0"/>
            <a:chExt cx="95250" cy="95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52563" y="3395024"/>
            <a:ext cx="95250" cy="95250"/>
            <a:chOff x="0" y="0"/>
            <a:chExt cx="95250" cy="95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52563" y="4252274"/>
            <a:ext cx="95250" cy="95250"/>
            <a:chOff x="0" y="0"/>
            <a:chExt cx="95250" cy="95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52563" y="4680899"/>
            <a:ext cx="95250" cy="95250"/>
            <a:chOff x="0" y="0"/>
            <a:chExt cx="95250" cy="95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152563" y="5538149"/>
            <a:ext cx="95250" cy="95250"/>
            <a:chOff x="0" y="0"/>
            <a:chExt cx="95250" cy="95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152563" y="5966774"/>
            <a:ext cx="95250" cy="95250"/>
            <a:chOff x="0" y="0"/>
            <a:chExt cx="95250" cy="95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152563" y="6824024"/>
            <a:ext cx="95250" cy="95250"/>
            <a:chOff x="0" y="0"/>
            <a:chExt cx="95250" cy="95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52563" y="7252649"/>
            <a:ext cx="95250" cy="95250"/>
            <a:chOff x="0" y="0"/>
            <a:chExt cx="95250" cy="95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377" cy="95250"/>
            </a:xfrm>
            <a:custGeom>
              <a:avLst/>
              <a:gdLst/>
              <a:ahLst/>
              <a:cxnLst/>
              <a:rect l="l" t="t" r="r" b="b"/>
              <a:pathLst>
                <a:path w="95377" h="95250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786"/>
                  </a:cubicBezTo>
                  <a:cubicBezTo>
                    <a:pt x="89154" y="71501"/>
                    <a:pt x="85725" y="76708"/>
                    <a:pt x="81280" y="81280"/>
                  </a:cubicBezTo>
                  <a:cubicBezTo>
                    <a:pt x="76835" y="85852"/>
                    <a:pt x="71628" y="89154"/>
                    <a:pt x="65786" y="91567"/>
                  </a:cubicBezTo>
                  <a:cubicBezTo>
                    <a:pt x="59944" y="93980"/>
                    <a:pt x="53848" y="95250"/>
                    <a:pt x="47498" y="95250"/>
                  </a:cubicBezTo>
                  <a:cubicBezTo>
                    <a:pt x="41148" y="95250"/>
                    <a:pt x="35052" y="93980"/>
                    <a:pt x="29210" y="91567"/>
                  </a:cubicBezTo>
                  <a:cubicBezTo>
                    <a:pt x="23368" y="89154"/>
                    <a:pt x="18288" y="85725"/>
                    <a:pt x="13716" y="81280"/>
                  </a:cubicBezTo>
                  <a:cubicBezTo>
                    <a:pt x="9144" y="76835"/>
                    <a:pt x="6096" y="71628"/>
                    <a:pt x="3683" y="65786"/>
                  </a:cubicBezTo>
                  <a:cubicBezTo>
                    <a:pt x="1270" y="59944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152563" y="8109899"/>
            <a:ext cx="95250" cy="95250"/>
            <a:chOff x="0" y="0"/>
            <a:chExt cx="95250" cy="952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377" cy="95250"/>
            </a:xfrm>
            <a:custGeom>
              <a:avLst/>
              <a:gdLst/>
              <a:ahLst/>
              <a:cxnLst/>
              <a:rect l="l" t="t" r="r" b="b"/>
              <a:pathLst>
                <a:path w="95377" h="95250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786"/>
                  </a:cubicBezTo>
                  <a:cubicBezTo>
                    <a:pt x="89154" y="71501"/>
                    <a:pt x="85725" y="76708"/>
                    <a:pt x="81280" y="81280"/>
                  </a:cubicBezTo>
                  <a:cubicBezTo>
                    <a:pt x="76835" y="85852"/>
                    <a:pt x="71628" y="89154"/>
                    <a:pt x="65786" y="91567"/>
                  </a:cubicBezTo>
                  <a:cubicBezTo>
                    <a:pt x="59944" y="93980"/>
                    <a:pt x="53848" y="95250"/>
                    <a:pt x="47498" y="95250"/>
                  </a:cubicBezTo>
                  <a:cubicBezTo>
                    <a:pt x="41148" y="95250"/>
                    <a:pt x="35052" y="93980"/>
                    <a:pt x="29210" y="91567"/>
                  </a:cubicBezTo>
                  <a:cubicBezTo>
                    <a:pt x="23368" y="89154"/>
                    <a:pt x="18288" y="85725"/>
                    <a:pt x="13716" y="81280"/>
                  </a:cubicBezTo>
                  <a:cubicBezTo>
                    <a:pt x="9144" y="76835"/>
                    <a:pt x="6096" y="71628"/>
                    <a:pt x="3683" y="65786"/>
                  </a:cubicBezTo>
                  <a:cubicBezTo>
                    <a:pt x="1270" y="59944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152563" y="8538524"/>
            <a:ext cx="95250" cy="95250"/>
            <a:chOff x="0" y="0"/>
            <a:chExt cx="95250" cy="952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90606"/>
            </a:solid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1992718" y="0"/>
            <a:ext cx="5266582" cy="2356799"/>
            <a:chOff x="0" y="0"/>
            <a:chExt cx="5266576" cy="23567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266563" cy="2356739"/>
            </a:xfrm>
            <a:custGeom>
              <a:avLst/>
              <a:gdLst/>
              <a:ahLst/>
              <a:cxnLst/>
              <a:rect l="l" t="t" r="r" b="b"/>
              <a:pathLst>
                <a:path w="5266563" h="2356739">
                  <a:moveTo>
                    <a:pt x="0" y="0"/>
                  </a:moveTo>
                  <a:lnTo>
                    <a:pt x="0" y="2356739"/>
                  </a:lnTo>
                  <a:lnTo>
                    <a:pt x="5266563" y="2356739"/>
                  </a:lnTo>
                  <a:lnTo>
                    <a:pt x="526656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4626009" y="7930201"/>
            <a:ext cx="3661991" cy="2356799"/>
            <a:chOff x="0" y="0"/>
            <a:chExt cx="3661994" cy="23567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62045" cy="2356739"/>
            </a:xfrm>
            <a:custGeom>
              <a:avLst/>
              <a:gdLst/>
              <a:ahLst/>
              <a:cxnLst/>
              <a:rect l="l" t="t" r="r" b="b"/>
              <a:pathLst>
                <a:path w="3662045" h="2356739">
                  <a:moveTo>
                    <a:pt x="0" y="0"/>
                  </a:moveTo>
                  <a:lnTo>
                    <a:pt x="0" y="2356739"/>
                  </a:lnTo>
                  <a:lnTo>
                    <a:pt x="3662045" y="2356739"/>
                  </a:lnTo>
                  <a:lnTo>
                    <a:pt x="366204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533476" y="985780"/>
            <a:ext cx="6825005" cy="69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LITERATURE SURVEY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11061" y="2025463"/>
            <a:ext cx="93916" cy="80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4"/>
              </a:lnSpc>
            </a:pPr>
            <a:r>
              <a:rPr lang="en-US" sz="2865" b="1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1088" y="2387413"/>
            <a:ext cx="2685098" cy="4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65" b="1" spc="14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ELIZA</a:t>
            </a:r>
            <a:r>
              <a:rPr lang="en-US" sz="2865" b="1" spc="14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2865" b="1" spc="14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(1966)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9918" y="2790196"/>
            <a:ext cx="15878947" cy="87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65" spc="14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First conversational agent; showed how rule-based dialogue can simulate empathy. Limitation: No real understanding or emotional intelligence.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1088" y="3673288"/>
            <a:ext cx="3032522" cy="4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65" b="1" spc="14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Woebot (2017)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99918" y="4076071"/>
            <a:ext cx="15730452" cy="87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65" spc="14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CBT-based mental-health chatbot with proven reduction in depression symptoms. Lacked deeper personalization and emotional context awareness.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1088" y="4959163"/>
            <a:ext cx="7023773" cy="4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65" b="1" spc="14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Transformer Models (BERT, 2018+)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99918" y="5361946"/>
            <a:ext cx="11979373" cy="87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65" spc="14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Enabled state-of-the-art emotion and sentiment classification. Foundation for emotion detection systems like SoulSync.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1088" y="6245038"/>
            <a:ext cx="7864488" cy="4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65" b="1" spc="14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Empathetic Dialogue Research (2019+)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99918" y="6647821"/>
            <a:ext cx="14711229" cy="87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65" spc="14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Datasets &amp; models trained for empathy, validation, and supportive responses. Highlighted need for emotionally aligned AI conversations.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81088" y="7530913"/>
            <a:ext cx="4852787" cy="44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65" b="1" spc="14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Crisis Detection Studies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99918" y="7933696"/>
            <a:ext cx="12286364" cy="87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65" spc="14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Show importance of self-harm detection &amp; escalation pathways. Inspired SoulSync’s closest-kin Telegram alert mechanism.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78030" y="4351363"/>
            <a:ext cx="4010616" cy="1298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342" dirty="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THANK YOU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E81B3-5B37-7E1F-0FC0-D74C9FECCE40}"/>
              </a:ext>
            </a:extLst>
          </p:cNvPr>
          <p:cNvSpPr txBox="1"/>
          <p:nvPr/>
        </p:nvSpPr>
        <p:spPr>
          <a:xfrm>
            <a:off x="3810000" y="6134100"/>
            <a:ext cx="1066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GITHUB REPO LINK : </a:t>
            </a:r>
            <a:r>
              <a:rPr lang="en-IN" sz="3200" dirty="0">
                <a:hlinkClick r:id="rId2"/>
              </a:rPr>
              <a:t>https://github.com/williskipsjr/SoulSync</a:t>
            </a:r>
            <a:r>
              <a:rPr lang="en-IN" sz="3200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823</Words>
  <Application>Microsoft Office PowerPoint</Application>
  <PresentationFormat>Custom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Telegraf Bold</vt:lpstr>
      <vt:lpstr>Canva Sans Bold</vt:lpstr>
      <vt:lpstr>Telegraf</vt:lpstr>
      <vt:lpstr>Cheddar</vt:lpstr>
      <vt:lpstr>Arimo</vt:lpstr>
      <vt:lpstr>Arimo Bold</vt:lpstr>
      <vt:lpstr>Calibri</vt:lpstr>
      <vt:lpstr>Canva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AI-PROJECT.pdf</dc:title>
  <cp:lastModifiedBy>Muhammad Kaif</cp:lastModifiedBy>
  <cp:revision>3</cp:revision>
  <dcterms:created xsi:type="dcterms:W3CDTF">2006-08-16T00:00:00Z</dcterms:created>
  <dcterms:modified xsi:type="dcterms:W3CDTF">2025-11-16T13:05:27Z</dcterms:modified>
  <dc:identifier>DAG43DTL6n0</dc:identifier>
</cp:coreProperties>
</file>